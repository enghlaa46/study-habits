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5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5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1362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hyperlink" Target="https://www.learningscientists.org/strategies/spaced-practice?utm_source=chatgpt.com" TargetMode="External"/><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nextjs.org/?utm_source=chatgpt.com" TargetMode="External"/><Relationship Id="rId7" Type="http://schemas.openxmlformats.org/officeDocument/2006/relationships/hyperlink" Target="https://railway.com/?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prisma.io/?utm_source=chatgpt.com" TargetMode="External"/><Relationship Id="rId11" Type="http://schemas.openxmlformats.org/officeDocument/2006/relationships/image" Target="../media/image4.png"/><Relationship Id="rId5" Type="http://schemas.openxmlformats.org/officeDocument/2006/relationships/hyperlink" Target="https://www.postgresql.org/?utm_source=chatgpt.com" TargetMode="External"/><Relationship Id="rId10" Type="http://schemas.openxmlformats.org/officeDocument/2006/relationships/image" Target="../media/image3.png"/><Relationship Id="rId4" Type="http://schemas.openxmlformats.org/officeDocument/2006/relationships/hyperlink" Target="https://tailwindcss.com/?utm_source=chatgpt.com" TargetMode="Externa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4632808" y="1874520"/>
            <a:ext cx="2926080" cy="411480"/>
          </a:xfrm>
          <a:prstGeom prst="roundRect">
            <a:avLst>
              <a:gd name="adj" fmla="val 48889"/>
            </a:avLst>
          </a:prstGeom>
          <a:solidFill>
            <a:srgbClr val="121A2A"/>
          </a:solidFill>
          <a:ln w="12700">
            <a:solidFill>
              <a:srgbClr val="008C66"/>
            </a:solidFill>
            <a:prstDash val="solid"/>
          </a:ln>
        </p:spPr>
        <p:txBody>
          <a:bodyPr/>
          <a:lstStyle/>
          <a:p>
            <a:endParaRPr lang="en-SA"/>
          </a:p>
        </p:txBody>
      </p:sp>
      <p:sp>
        <p:nvSpPr>
          <p:cNvPr id="3" name="Text 1"/>
          <p:cNvSpPr/>
          <p:nvPr/>
        </p:nvSpPr>
        <p:spPr>
          <a:xfrm>
            <a:off x="4632808" y="1874520"/>
            <a:ext cx="2926080" cy="411480"/>
          </a:xfrm>
          <a:prstGeom prst="rect">
            <a:avLst/>
          </a:prstGeom>
          <a:noFill/>
          <a:ln/>
        </p:spPr>
        <p:txBody>
          <a:bodyPr wrap="square" lIns="0" tIns="0" rIns="0" bIns="0" rtlCol="0" anchor="ctr"/>
          <a:lstStyle/>
          <a:p>
            <a:pPr marL="0" indent="0" algn="ctr" rtl="1">
              <a:buNone/>
            </a:pPr>
            <a:r>
              <a:rPr lang="en-US" sz="1200" b="1" dirty="0">
                <a:solidFill>
                  <a:srgbClr val="00E5A0"/>
                </a:solidFill>
                <a:latin typeface="IBM Plex Sans Arabic" pitchFamily="34" charset="0"/>
                <a:ea typeface="IBM Plex Sans Arabic" pitchFamily="34" charset="-122"/>
                <a:cs typeface="IBM Plex Sans Arabic" pitchFamily="34" charset="-120"/>
              </a:rPr>
              <a:t>هاكاثون وكلاء الذكاء الاصطناعي</a:t>
            </a:r>
            <a:endParaRPr lang="en-US" sz="1200" dirty="0"/>
          </a:p>
        </p:txBody>
      </p:sp>
      <p:sp>
        <p:nvSpPr>
          <p:cNvPr id="4" name="Text 2"/>
          <p:cNvSpPr/>
          <p:nvPr/>
        </p:nvSpPr>
        <p:spPr>
          <a:xfrm>
            <a:off x="914400" y="2514600"/>
            <a:ext cx="10362895" cy="1005840"/>
          </a:xfrm>
          <a:prstGeom prst="rect">
            <a:avLst/>
          </a:prstGeom>
          <a:noFill/>
          <a:ln/>
        </p:spPr>
        <p:txBody>
          <a:bodyPr wrap="square" lIns="0" tIns="0" rIns="0" bIns="0" rtlCol="0" anchor="ctr"/>
          <a:lstStyle/>
          <a:p>
            <a:pPr marL="0" indent="0" algn="ctr" rtl="1">
              <a:buNone/>
            </a:pPr>
            <a:r>
              <a:rPr lang="en-US" sz="5600" b="1" dirty="0">
                <a:solidFill>
                  <a:srgbClr val="E6EDF7"/>
                </a:solidFill>
                <a:latin typeface="IBM Plex Sans Arabic" pitchFamily="34" charset="0"/>
                <a:ea typeface="IBM Plex Sans Arabic" pitchFamily="34" charset="-122"/>
                <a:cs typeface="IBM Plex Sans Arabic" pitchFamily="34" charset="-120"/>
              </a:rPr>
              <a:t>Study Skills Bulder</a:t>
            </a:r>
            <a:endParaRPr lang="en-US" sz="5600" dirty="0"/>
          </a:p>
        </p:txBody>
      </p:sp>
      <p:sp>
        <p:nvSpPr>
          <p:cNvPr id="5" name="Shape 3"/>
          <p:cNvSpPr/>
          <p:nvPr/>
        </p:nvSpPr>
        <p:spPr>
          <a:xfrm>
            <a:off x="5547208" y="3611880"/>
            <a:ext cx="1097280" cy="36576"/>
          </a:xfrm>
          <a:prstGeom prst="rect">
            <a:avLst/>
          </a:prstGeom>
          <a:solidFill>
            <a:srgbClr val="00E5A0"/>
          </a:solidFill>
          <a:ln w="12700">
            <a:solidFill>
              <a:srgbClr val="00E5A0"/>
            </a:solidFill>
            <a:prstDash val="solid"/>
          </a:ln>
        </p:spPr>
        <p:txBody>
          <a:bodyPr/>
          <a:lstStyle/>
          <a:p>
            <a:endParaRPr lang="en-SA"/>
          </a:p>
        </p:txBody>
      </p:sp>
      <p:sp>
        <p:nvSpPr>
          <p:cNvPr id="6" name="Text 4"/>
          <p:cNvSpPr/>
          <p:nvPr/>
        </p:nvSpPr>
        <p:spPr>
          <a:xfrm>
            <a:off x="1371600" y="3794760"/>
            <a:ext cx="9448495" cy="548640"/>
          </a:xfrm>
          <a:prstGeom prst="rect">
            <a:avLst/>
          </a:prstGeom>
          <a:noFill/>
          <a:ln/>
        </p:spPr>
        <p:txBody>
          <a:bodyPr wrap="square" lIns="0" tIns="0" rIns="0" bIns="0" rtlCol="0" anchor="ctr"/>
          <a:lstStyle/>
          <a:p>
            <a:pPr algn="ctr" rtl="1"/>
            <a:r>
              <a:rPr lang="ar-SA" dirty="0">
                <a:solidFill>
                  <a:schemeClr val="bg1">
                    <a:lumMod val="85000"/>
                  </a:schemeClr>
                </a:solidFill>
              </a:rPr>
              <a:t>حوّل دراستك من مجرد حفظ للاختبار إلى إتقان حقيقي للمهارات التي تدوم وتفيدك في الحياة وسوق العمل</a:t>
            </a:r>
            <a:endParaRPr lang="en-US" sz="1800" dirty="0">
              <a:solidFill>
                <a:schemeClr val="bg1">
                  <a:lumMod val="85000"/>
                </a:schemeClr>
              </a:solidFill>
            </a:endParaRPr>
          </a:p>
        </p:txBody>
      </p:sp>
      <p:sp>
        <p:nvSpPr>
          <p:cNvPr id="7" name="Text 5"/>
          <p:cNvSpPr/>
          <p:nvPr/>
        </p:nvSpPr>
        <p:spPr>
          <a:xfrm>
            <a:off x="1371600" y="4434840"/>
            <a:ext cx="9448495" cy="365760"/>
          </a:xfrm>
          <a:prstGeom prst="rect">
            <a:avLst/>
          </a:prstGeom>
          <a:noFill/>
          <a:ln/>
        </p:spPr>
        <p:txBody>
          <a:bodyPr wrap="square" lIns="0" tIns="0" rIns="0" bIns="0" rtlCol="0" anchor="ctr"/>
          <a:lstStyle/>
          <a:p>
            <a:pPr marL="0" indent="0" algn="ctr">
              <a:buNone/>
            </a:pPr>
            <a:r>
              <a:rPr lang="en-US" sz="1300" kern="0" spc="200" dirty="0">
                <a:solidFill>
                  <a:srgbClr val="8B9AB3"/>
                </a:solidFill>
                <a:latin typeface="IBM Plex Sans Arabic" pitchFamily="34" charset="0"/>
                <a:ea typeface="IBM Plex Sans Arabic" pitchFamily="34" charset="-122"/>
                <a:cs typeface="IBM Plex Sans Arabic" pitchFamily="34" charset="-120"/>
              </a:rPr>
              <a:t>[ SSB ]   ·   Agenticthon 2026</a:t>
            </a:r>
            <a:endParaRPr lang="en-US" sz="1300" dirty="0"/>
          </a:p>
        </p:txBody>
      </p:sp>
      <p:sp>
        <p:nvSpPr>
          <p:cNvPr id="8" name="Shape 6"/>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1" name="Image 2" descr="unpacked/ppt/media/image5.png"/>
          <p:cNvPicPr>
            <a:picLocks noChangeAspect="1"/>
          </p:cNvPicPr>
          <p:nvPr/>
        </p:nvPicPr>
        <p:blipFill>
          <a:blip r:embed="rId3"/>
          <a:stretch>
            <a:fillRect/>
          </a:stretch>
        </p:blipFill>
        <p:spPr>
          <a:xfrm>
            <a:off x="10672267" y="6392962"/>
            <a:ext cx="1210056" cy="329184"/>
          </a:xfrm>
          <a:prstGeom prst="rect">
            <a:avLst/>
          </a:prstGeom>
        </p:spPr>
      </p:pic>
      <p:pic>
        <p:nvPicPr>
          <p:cNvPr id="13" name="Image 1" descr="unpacked/ppt/media/image1.png">
            <a:extLst>
              <a:ext uri="{FF2B5EF4-FFF2-40B4-BE49-F238E27FC236}">
                <a16:creationId xmlns:a16="http://schemas.microsoft.com/office/drawing/2014/main" id="{4A086D58-1E1E-EDE4-9A7C-852237937A08}"/>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4" name="Image 3" descr="unpacked/ppt/media/image3.png">
            <a:extLst>
              <a:ext uri="{FF2B5EF4-FFF2-40B4-BE49-F238E27FC236}">
                <a16:creationId xmlns:a16="http://schemas.microsoft.com/office/drawing/2014/main" id="{28BFDECE-20F8-DEB5-4166-8F321299B295}"/>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5" name="Picture 14" descr="A logo of a letter&#10;&#10;AI-generated content may be incorrect.">
            <a:extLst>
              <a:ext uri="{FF2B5EF4-FFF2-40B4-BE49-F238E27FC236}">
                <a16:creationId xmlns:a16="http://schemas.microsoft.com/office/drawing/2014/main" id="{6D0017A3-BC28-5437-8218-AFBE77BE5995}"/>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فريق العمل</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7" name="Text 5"/>
          <p:cNvSpPr/>
          <p:nvPr/>
        </p:nvSpPr>
        <p:spPr>
          <a:xfrm>
            <a:off x="1020928" y="3886200"/>
            <a:ext cx="1737360" cy="411480"/>
          </a:xfrm>
          <a:prstGeom prst="rect">
            <a:avLst/>
          </a:prstGeom>
          <a:noFill/>
          <a:ln/>
        </p:spPr>
        <p:txBody>
          <a:bodyPr wrap="square" lIns="0" tIns="0" rIns="0" bIns="0" rtlCol="0" anchor="ctr"/>
          <a:lstStyle/>
          <a:p>
            <a:pPr marL="0" indent="0" algn="ctr" rtl="1">
              <a:buNone/>
            </a:pPr>
            <a:endParaRPr lang="en-US" sz="1600" dirty="0"/>
          </a:p>
        </p:txBody>
      </p:sp>
      <p:sp>
        <p:nvSpPr>
          <p:cNvPr id="8" name="Text 6"/>
          <p:cNvSpPr/>
          <p:nvPr/>
        </p:nvSpPr>
        <p:spPr>
          <a:xfrm>
            <a:off x="102092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9" name="Shape 7"/>
          <p:cNvSpPr/>
          <p:nvPr/>
        </p:nvSpPr>
        <p:spPr>
          <a:xfrm>
            <a:off x="3032608" y="2331720"/>
            <a:ext cx="1920240" cy="2926080"/>
          </a:xfrm>
          <a:prstGeom prst="roundRect">
            <a:avLst>
              <a:gd name="adj" fmla="val 4762"/>
            </a:avLst>
          </a:prstGeom>
          <a:solidFill>
            <a:srgbClr val="121A2A"/>
          </a:solidFill>
          <a:ln w="12700">
            <a:solidFill>
              <a:srgbClr val="1E2A3F"/>
            </a:solidFill>
            <a:prstDash val="solid"/>
          </a:ln>
        </p:spPr>
        <p:txBody>
          <a:bodyPr/>
          <a:lstStyle/>
          <a:p>
            <a:endParaRPr lang="en-SA"/>
          </a:p>
        </p:txBody>
      </p:sp>
      <p:sp>
        <p:nvSpPr>
          <p:cNvPr id="10" name="Shape 8"/>
          <p:cNvSpPr/>
          <p:nvPr/>
        </p:nvSpPr>
        <p:spPr>
          <a:xfrm>
            <a:off x="3489808" y="2697480"/>
            <a:ext cx="1005840" cy="1005840"/>
          </a:xfrm>
          <a:prstGeom prst="ellipse">
            <a:avLst/>
          </a:prstGeom>
          <a:solidFill>
            <a:srgbClr val="00E5A0"/>
          </a:solidFill>
          <a:ln w="12700">
            <a:solidFill>
              <a:srgbClr val="00E5A0"/>
            </a:solidFill>
            <a:prstDash val="solid"/>
          </a:ln>
        </p:spPr>
        <p:txBody>
          <a:bodyPr/>
          <a:lstStyle/>
          <a:p>
            <a:endParaRPr lang="en-SA"/>
          </a:p>
        </p:txBody>
      </p:sp>
      <p:sp>
        <p:nvSpPr>
          <p:cNvPr id="11" name="Text 9"/>
          <p:cNvSpPr/>
          <p:nvPr/>
        </p:nvSpPr>
        <p:spPr>
          <a:xfrm>
            <a:off x="348980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12" name="Text 10"/>
          <p:cNvSpPr/>
          <p:nvPr/>
        </p:nvSpPr>
        <p:spPr>
          <a:xfrm>
            <a:off x="3124048" y="3886200"/>
            <a:ext cx="1737360" cy="411480"/>
          </a:xfrm>
          <a:prstGeom prst="rect">
            <a:avLst/>
          </a:prstGeom>
          <a:noFill/>
          <a:ln/>
        </p:spPr>
        <p:txBody>
          <a:bodyPr wrap="square" lIns="0" tIns="0" rIns="0" bIns="0" rtlCol="0" anchor="ctr"/>
          <a:lstStyle/>
          <a:p>
            <a:pPr marL="0" indent="0" algn="ctr" rtl="1">
              <a:buNone/>
            </a:pPr>
            <a:r>
              <a:rPr lang="ar-SA" sz="1600" b="1" dirty="0">
                <a:solidFill>
                  <a:srgbClr val="E6EDF7"/>
                </a:solidFill>
                <a:latin typeface="IBM Plex Sans Arabic" pitchFamily="34" charset="0"/>
                <a:ea typeface="IBM Plex Sans Arabic" pitchFamily="34" charset="-122"/>
              </a:rPr>
              <a:t>حنين المالكي</a:t>
            </a:r>
            <a:endParaRPr lang="en-US" sz="1600" dirty="0"/>
          </a:p>
        </p:txBody>
      </p:sp>
      <p:sp>
        <p:nvSpPr>
          <p:cNvPr id="13" name="Text 11"/>
          <p:cNvSpPr/>
          <p:nvPr/>
        </p:nvSpPr>
        <p:spPr>
          <a:xfrm>
            <a:off x="312404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14" name="Shape 12"/>
          <p:cNvSpPr/>
          <p:nvPr/>
        </p:nvSpPr>
        <p:spPr>
          <a:xfrm>
            <a:off x="5135728" y="2331720"/>
            <a:ext cx="1920240" cy="2926080"/>
          </a:xfrm>
          <a:prstGeom prst="roundRect">
            <a:avLst>
              <a:gd name="adj" fmla="val 4762"/>
            </a:avLst>
          </a:prstGeom>
          <a:solidFill>
            <a:srgbClr val="121A2A"/>
          </a:solidFill>
          <a:ln w="12700">
            <a:solidFill>
              <a:srgbClr val="1E2A3F"/>
            </a:solidFill>
            <a:prstDash val="solid"/>
          </a:ln>
        </p:spPr>
        <p:txBody>
          <a:bodyPr/>
          <a:lstStyle/>
          <a:p>
            <a:endParaRPr lang="en-SA"/>
          </a:p>
        </p:txBody>
      </p:sp>
      <p:sp>
        <p:nvSpPr>
          <p:cNvPr id="15" name="Shape 13"/>
          <p:cNvSpPr/>
          <p:nvPr/>
        </p:nvSpPr>
        <p:spPr>
          <a:xfrm>
            <a:off x="5592928" y="2697480"/>
            <a:ext cx="1005840" cy="1005840"/>
          </a:xfrm>
          <a:prstGeom prst="ellipse">
            <a:avLst/>
          </a:prstGeom>
          <a:solidFill>
            <a:srgbClr val="00E5A0"/>
          </a:solidFill>
          <a:ln w="12700">
            <a:solidFill>
              <a:srgbClr val="00E5A0"/>
            </a:solidFill>
            <a:prstDash val="solid"/>
          </a:ln>
        </p:spPr>
        <p:txBody>
          <a:bodyPr/>
          <a:lstStyle/>
          <a:p>
            <a:endParaRPr lang="en-SA"/>
          </a:p>
        </p:txBody>
      </p:sp>
      <p:sp>
        <p:nvSpPr>
          <p:cNvPr id="16" name="Text 14"/>
          <p:cNvSpPr/>
          <p:nvPr/>
        </p:nvSpPr>
        <p:spPr>
          <a:xfrm>
            <a:off x="559292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17" name="Text 15"/>
          <p:cNvSpPr/>
          <p:nvPr/>
        </p:nvSpPr>
        <p:spPr>
          <a:xfrm>
            <a:off x="5227168" y="3886200"/>
            <a:ext cx="1737360" cy="411480"/>
          </a:xfrm>
          <a:prstGeom prst="rect">
            <a:avLst/>
          </a:prstGeom>
          <a:noFill/>
          <a:ln/>
        </p:spPr>
        <p:txBody>
          <a:bodyPr wrap="square" lIns="0" tIns="0" rIns="0" bIns="0" rtlCol="0" anchor="ctr"/>
          <a:lstStyle/>
          <a:p>
            <a:pPr marL="0" indent="0" algn="ctr" rtl="1">
              <a:buNone/>
            </a:pPr>
            <a:r>
              <a:rPr lang="ar-SA" sz="1600" b="1" dirty="0">
                <a:solidFill>
                  <a:srgbClr val="E6EDF7"/>
                </a:solidFill>
                <a:latin typeface="IBM Plex Sans Arabic" pitchFamily="34" charset="0"/>
                <a:ea typeface="IBM Plex Sans Arabic" pitchFamily="34" charset="-122"/>
              </a:rPr>
              <a:t>ساره العبلان</a:t>
            </a:r>
            <a:endParaRPr lang="en-US" sz="1600" dirty="0"/>
          </a:p>
        </p:txBody>
      </p:sp>
      <p:sp>
        <p:nvSpPr>
          <p:cNvPr id="18" name="Text 16"/>
          <p:cNvSpPr/>
          <p:nvPr/>
        </p:nvSpPr>
        <p:spPr>
          <a:xfrm>
            <a:off x="522716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19" name="Shape 17"/>
          <p:cNvSpPr/>
          <p:nvPr/>
        </p:nvSpPr>
        <p:spPr>
          <a:xfrm>
            <a:off x="7238848" y="2331720"/>
            <a:ext cx="1920240" cy="2926080"/>
          </a:xfrm>
          <a:prstGeom prst="roundRect">
            <a:avLst>
              <a:gd name="adj" fmla="val 4762"/>
            </a:avLst>
          </a:prstGeom>
          <a:solidFill>
            <a:srgbClr val="121A2A"/>
          </a:solidFill>
          <a:ln w="12700">
            <a:solidFill>
              <a:srgbClr val="1E2A3F"/>
            </a:solidFill>
            <a:prstDash val="solid"/>
          </a:ln>
        </p:spPr>
        <p:txBody>
          <a:bodyPr/>
          <a:lstStyle/>
          <a:p>
            <a:endParaRPr lang="en-SA"/>
          </a:p>
        </p:txBody>
      </p:sp>
      <p:sp>
        <p:nvSpPr>
          <p:cNvPr id="20" name="Shape 18"/>
          <p:cNvSpPr/>
          <p:nvPr/>
        </p:nvSpPr>
        <p:spPr>
          <a:xfrm>
            <a:off x="7696048" y="2697480"/>
            <a:ext cx="1005840" cy="1005840"/>
          </a:xfrm>
          <a:prstGeom prst="ellipse">
            <a:avLst/>
          </a:prstGeom>
          <a:solidFill>
            <a:srgbClr val="00E5A0"/>
          </a:solidFill>
          <a:ln w="12700">
            <a:solidFill>
              <a:srgbClr val="00E5A0"/>
            </a:solidFill>
            <a:prstDash val="solid"/>
          </a:ln>
        </p:spPr>
        <p:txBody>
          <a:bodyPr/>
          <a:lstStyle/>
          <a:p>
            <a:endParaRPr lang="en-SA"/>
          </a:p>
        </p:txBody>
      </p:sp>
      <p:sp>
        <p:nvSpPr>
          <p:cNvPr id="21" name="Text 19"/>
          <p:cNvSpPr/>
          <p:nvPr/>
        </p:nvSpPr>
        <p:spPr>
          <a:xfrm>
            <a:off x="769604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22" name="Text 20"/>
          <p:cNvSpPr/>
          <p:nvPr/>
        </p:nvSpPr>
        <p:spPr>
          <a:xfrm>
            <a:off x="7330288" y="3886200"/>
            <a:ext cx="1737360" cy="411480"/>
          </a:xfrm>
          <a:prstGeom prst="rect">
            <a:avLst/>
          </a:prstGeom>
          <a:noFill/>
          <a:ln/>
        </p:spPr>
        <p:txBody>
          <a:bodyPr wrap="square" lIns="0" tIns="0" rIns="0" bIns="0" rtlCol="0" anchor="ctr"/>
          <a:lstStyle/>
          <a:p>
            <a:pPr marL="0" indent="0" algn="ctr" rtl="1">
              <a:buNone/>
            </a:pPr>
            <a:r>
              <a:rPr lang="ar-SA" sz="1600" b="1" dirty="0">
                <a:solidFill>
                  <a:srgbClr val="E6EDF7"/>
                </a:solidFill>
                <a:latin typeface="IBM Plex Sans Arabic" pitchFamily="34" charset="0"/>
                <a:ea typeface="IBM Plex Sans Arabic" pitchFamily="34" charset="-122"/>
              </a:rPr>
              <a:t>حلا دخان</a:t>
            </a:r>
            <a:endParaRPr lang="en-US" sz="1600" dirty="0"/>
          </a:p>
        </p:txBody>
      </p:sp>
      <p:sp>
        <p:nvSpPr>
          <p:cNvPr id="23" name="Text 21"/>
          <p:cNvSpPr/>
          <p:nvPr/>
        </p:nvSpPr>
        <p:spPr>
          <a:xfrm>
            <a:off x="7330288" y="4343400"/>
            <a:ext cx="1737360" cy="411480"/>
          </a:xfrm>
          <a:prstGeom prst="rect">
            <a:avLst/>
          </a:prstGeom>
          <a:noFill/>
          <a:ln/>
        </p:spPr>
        <p:txBody>
          <a:bodyPr wrap="square" lIns="0" tIns="0" rIns="0" bIns="0" rtlCol="0" anchor="ctr"/>
          <a:lstStyle/>
          <a:p>
            <a:pPr marL="0" indent="0" algn="ctr" rtl="1">
              <a:buNone/>
            </a:pPr>
            <a:endParaRPr lang="en-US" sz="1300" dirty="0"/>
          </a:p>
        </p:txBody>
      </p:sp>
      <p:sp>
        <p:nvSpPr>
          <p:cNvPr id="26" name="Text 24"/>
          <p:cNvSpPr/>
          <p:nvPr/>
        </p:nvSpPr>
        <p:spPr>
          <a:xfrm>
            <a:off x="9799168" y="2697480"/>
            <a:ext cx="1005840" cy="1005840"/>
          </a:xfrm>
          <a:prstGeom prst="rect">
            <a:avLst/>
          </a:prstGeom>
          <a:noFill/>
          <a:ln/>
        </p:spPr>
        <p:txBody>
          <a:bodyPr wrap="square" lIns="0" tIns="0" rIns="0" bIns="0" rtlCol="0" anchor="ctr"/>
          <a:lstStyle/>
          <a:p>
            <a:pPr marL="0" indent="0" algn="ctr" rtl="1">
              <a:buNone/>
            </a:pPr>
            <a:endParaRPr lang="en-US" sz="3200" dirty="0"/>
          </a:p>
        </p:txBody>
      </p:sp>
      <p:sp>
        <p:nvSpPr>
          <p:cNvPr id="27" name="Text 25"/>
          <p:cNvSpPr/>
          <p:nvPr/>
        </p:nvSpPr>
        <p:spPr>
          <a:xfrm>
            <a:off x="9433408" y="3886200"/>
            <a:ext cx="1737360" cy="411480"/>
          </a:xfrm>
          <a:prstGeom prst="rect">
            <a:avLst/>
          </a:prstGeom>
          <a:noFill/>
          <a:ln/>
        </p:spPr>
        <p:txBody>
          <a:bodyPr wrap="square" lIns="0" tIns="0" rIns="0" bIns="0" rtlCol="0" anchor="ctr"/>
          <a:lstStyle/>
          <a:p>
            <a:pPr marL="0" indent="0" algn="ctr" rtl="1">
              <a:buNone/>
            </a:pPr>
            <a:endParaRPr lang="en-US" sz="1600" dirty="0"/>
          </a:p>
        </p:txBody>
      </p:sp>
      <p:sp>
        <p:nvSpPr>
          <p:cNvPr id="29" name="Shape 2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32" name="Image 2" descr="unpacked/ppt/media/image5.png"/>
          <p:cNvPicPr>
            <a:picLocks noChangeAspect="1"/>
          </p:cNvPicPr>
          <p:nvPr/>
        </p:nvPicPr>
        <p:blipFill>
          <a:blip r:embed="rId3"/>
          <a:stretch>
            <a:fillRect/>
          </a:stretch>
        </p:blipFill>
        <p:spPr>
          <a:xfrm>
            <a:off x="10728655" y="6392962"/>
            <a:ext cx="1210056" cy="329184"/>
          </a:xfrm>
          <a:prstGeom prst="rect">
            <a:avLst/>
          </a:prstGeom>
        </p:spPr>
      </p:pic>
      <p:pic>
        <p:nvPicPr>
          <p:cNvPr id="34" name="Image 1" descr="unpacked/ppt/media/image1.png">
            <a:extLst>
              <a:ext uri="{FF2B5EF4-FFF2-40B4-BE49-F238E27FC236}">
                <a16:creationId xmlns:a16="http://schemas.microsoft.com/office/drawing/2014/main" id="{80CBAE94-CC50-3E17-5DC1-FB85B1AF72AD}"/>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35" name="Image 3" descr="unpacked/ppt/media/image3.png">
            <a:extLst>
              <a:ext uri="{FF2B5EF4-FFF2-40B4-BE49-F238E27FC236}">
                <a16:creationId xmlns:a16="http://schemas.microsoft.com/office/drawing/2014/main" id="{D9A0F6AA-199E-7FBE-5C98-FEF1D82719D8}"/>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36" name="Picture 35" descr="A logo of a letter&#10;&#10;AI-generated content may be incorrect.">
            <a:extLst>
              <a:ext uri="{FF2B5EF4-FFF2-40B4-BE49-F238E27FC236}">
                <a16:creationId xmlns:a16="http://schemas.microsoft.com/office/drawing/2014/main" id="{AAD89DFB-6795-202D-7F2A-FD9152DEF00B}"/>
              </a:ext>
            </a:extLst>
          </p:cNvPr>
          <p:cNvPicPr>
            <a:picLocks noChangeAspect="1"/>
          </p:cNvPicPr>
          <p:nvPr/>
        </p:nvPicPr>
        <p:blipFill>
          <a:blip r:embed="rId6"/>
          <a:stretch>
            <a:fillRect/>
          </a:stretch>
        </p:blipFill>
        <p:spPr>
          <a:xfrm>
            <a:off x="488110" y="357922"/>
            <a:ext cx="465038" cy="465038"/>
          </a:xfrm>
          <a:prstGeom prst="rect">
            <a:avLst/>
          </a:prstGeom>
        </p:spPr>
      </p:pic>
      <p:pic>
        <p:nvPicPr>
          <p:cNvPr id="31" name="Picture 30">
            <a:extLst>
              <a:ext uri="{FF2B5EF4-FFF2-40B4-BE49-F238E27FC236}">
                <a16:creationId xmlns:a16="http://schemas.microsoft.com/office/drawing/2014/main" id="{15A9D049-BA86-128D-162D-BD755B78C424}"/>
              </a:ext>
            </a:extLst>
          </p:cNvPr>
          <p:cNvPicPr>
            <a:picLocks noChangeAspect="1"/>
          </p:cNvPicPr>
          <p:nvPr/>
        </p:nvPicPr>
        <p:blipFill>
          <a:blip r:embed="rId7"/>
          <a:stretch>
            <a:fillRect/>
          </a:stretch>
        </p:blipFill>
        <p:spPr>
          <a:xfrm>
            <a:off x="3583716" y="2805661"/>
            <a:ext cx="818023" cy="818023"/>
          </a:xfrm>
          <a:prstGeom prst="ellipse">
            <a:avLst/>
          </a:prstGeom>
          <a:ln>
            <a:noFill/>
          </a:ln>
          <a:effectLst/>
        </p:spPr>
      </p:pic>
      <p:pic>
        <p:nvPicPr>
          <p:cNvPr id="33" name="Picture 32">
            <a:extLst>
              <a:ext uri="{FF2B5EF4-FFF2-40B4-BE49-F238E27FC236}">
                <a16:creationId xmlns:a16="http://schemas.microsoft.com/office/drawing/2014/main" id="{D4CD97D7-3D4D-2C81-12B1-D7C26F62C0DB}"/>
              </a:ext>
            </a:extLst>
          </p:cNvPr>
          <p:cNvPicPr>
            <a:picLocks noChangeAspect="1"/>
          </p:cNvPicPr>
          <p:nvPr/>
        </p:nvPicPr>
        <p:blipFill>
          <a:blip r:embed="rId7"/>
          <a:stretch>
            <a:fillRect/>
          </a:stretch>
        </p:blipFill>
        <p:spPr>
          <a:xfrm>
            <a:off x="5691774" y="2791388"/>
            <a:ext cx="818023" cy="818023"/>
          </a:xfrm>
          <a:prstGeom prst="ellipse">
            <a:avLst/>
          </a:prstGeom>
          <a:ln>
            <a:noFill/>
          </a:ln>
          <a:effectLst/>
        </p:spPr>
      </p:pic>
      <p:pic>
        <p:nvPicPr>
          <p:cNvPr id="37" name="Picture 36">
            <a:extLst>
              <a:ext uri="{FF2B5EF4-FFF2-40B4-BE49-F238E27FC236}">
                <a16:creationId xmlns:a16="http://schemas.microsoft.com/office/drawing/2014/main" id="{41906A97-0D7D-2D80-AC91-DC8FCD605776}"/>
              </a:ext>
            </a:extLst>
          </p:cNvPr>
          <p:cNvPicPr>
            <a:picLocks noChangeAspect="1"/>
          </p:cNvPicPr>
          <p:nvPr/>
        </p:nvPicPr>
        <p:blipFill>
          <a:blip r:embed="rId7"/>
          <a:stretch>
            <a:fillRect/>
          </a:stretch>
        </p:blipFill>
        <p:spPr>
          <a:xfrm>
            <a:off x="7794894" y="2791388"/>
            <a:ext cx="818023" cy="818023"/>
          </a:xfrm>
          <a:prstGeom prst="ellipse">
            <a:avLst/>
          </a:prstGeom>
          <a:ln>
            <a:noFill/>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371600"/>
            <a:ext cx="11277295" cy="1371600"/>
          </a:xfrm>
          <a:prstGeom prst="rect">
            <a:avLst/>
          </a:prstGeom>
          <a:noFill/>
          <a:ln/>
        </p:spPr>
        <p:txBody>
          <a:bodyPr wrap="square" lIns="0" tIns="0" rIns="0" bIns="0" rtlCol="0" anchor="ctr"/>
          <a:lstStyle/>
          <a:p>
            <a:pPr marL="0" indent="0" algn="ctr">
              <a:buNone/>
            </a:pPr>
            <a:r>
              <a:rPr lang="en-US" sz="11000" b="1" dirty="0">
                <a:solidFill>
                  <a:srgbClr val="121A2A"/>
                </a:solidFill>
                <a:latin typeface="IBM Plex Sans Arabic" pitchFamily="34" charset="0"/>
                <a:ea typeface="IBM Plex Sans Arabic" pitchFamily="34" charset="-122"/>
                <a:cs typeface="IBM Plex Sans Arabic" pitchFamily="34" charset="-120"/>
              </a:rPr>
              <a:t>01</a:t>
            </a:r>
            <a:endParaRPr lang="en-US" sz="11000" dirty="0"/>
          </a:p>
        </p:txBody>
      </p:sp>
      <p:sp>
        <p:nvSpPr>
          <p:cNvPr id="3" name="Shape 1"/>
          <p:cNvSpPr/>
          <p:nvPr/>
        </p:nvSpPr>
        <p:spPr>
          <a:xfrm>
            <a:off x="5318608" y="3017520"/>
            <a:ext cx="1554480" cy="365760"/>
          </a:xfrm>
          <a:prstGeom prst="roundRect">
            <a:avLst>
              <a:gd name="adj" fmla="val 50000"/>
            </a:avLst>
          </a:prstGeom>
          <a:solidFill>
            <a:srgbClr val="121A2A"/>
          </a:solidFill>
          <a:ln w="12700">
            <a:solidFill>
              <a:srgbClr val="008C66"/>
            </a:solidFill>
            <a:prstDash val="solid"/>
          </a:ln>
        </p:spPr>
        <p:txBody>
          <a:bodyPr/>
          <a:lstStyle/>
          <a:p>
            <a:endParaRPr lang="en-SA"/>
          </a:p>
        </p:txBody>
      </p:sp>
      <p:sp>
        <p:nvSpPr>
          <p:cNvPr id="4" name="Text 2"/>
          <p:cNvSpPr/>
          <p:nvPr/>
        </p:nvSpPr>
        <p:spPr>
          <a:xfrm>
            <a:off x="5318608" y="3017520"/>
            <a:ext cx="1554480" cy="365760"/>
          </a:xfrm>
          <a:prstGeom prst="rect">
            <a:avLst/>
          </a:prstGeom>
          <a:noFill/>
          <a:ln/>
        </p:spPr>
        <p:txBody>
          <a:bodyPr wrap="square" lIns="0" tIns="0" rIns="0" bIns="0" rtlCol="0" anchor="ctr"/>
          <a:lstStyle/>
          <a:p>
            <a:pPr marL="0" indent="0" algn="ctr" rtl="1">
              <a:buNone/>
            </a:pPr>
            <a:r>
              <a:rPr lang="en-US" sz="1200" b="1" dirty="0">
                <a:solidFill>
                  <a:srgbClr val="00E5A0"/>
                </a:solidFill>
                <a:latin typeface="IBM Plex Sans Arabic" pitchFamily="34" charset="0"/>
                <a:ea typeface="IBM Plex Sans Arabic" pitchFamily="34" charset="-122"/>
                <a:cs typeface="IBM Plex Sans Arabic" pitchFamily="34" charset="-120"/>
              </a:rPr>
              <a:t>التحدي</a:t>
            </a:r>
            <a:endParaRPr lang="en-US" sz="1200" dirty="0"/>
          </a:p>
        </p:txBody>
      </p:sp>
      <p:sp>
        <p:nvSpPr>
          <p:cNvPr id="5" name="Text 3"/>
          <p:cNvSpPr/>
          <p:nvPr/>
        </p:nvSpPr>
        <p:spPr>
          <a:xfrm>
            <a:off x="457200" y="3520440"/>
            <a:ext cx="11277295" cy="868680"/>
          </a:xfrm>
          <a:prstGeom prst="rect">
            <a:avLst/>
          </a:prstGeom>
          <a:noFill/>
          <a:ln/>
        </p:spPr>
        <p:txBody>
          <a:bodyPr wrap="square" lIns="0" tIns="0" rIns="0" bIns="0" rtlCol="0" anchor="ctr"/>
          <a:lstStyle/>
          <a:p>
            <a:pPr marL="0" indent="0" algn="ctr" rtl="1">
              <a:buNone/>
            </a:pPr>
            <a:r>
              <a:rPr lang="en-US" sz="5600" b="1" dirty="0">
                <a:solidFill>
                  <a:srgbClr val="E6EDF7"/>
                </a:solidFill>
                <a:latin typeface="IBM Plex Sans Arabic" pitchFamily="34" charset="0"/>
                <a:ea typeface="IBM Plex Sans Arabic" pitchFamily="34" charset="-122"/>
                <a:cs typeface="IBM Plex Sans Arabic" pitchFamily="34" charset="-120"/>
              </a:rPr>
              <a:t>المشكلة</a:t>
            </a:r>
            <a:endParaRPr lang="en-US" sz="5600" dirty="0"/>
          </a:p>
        </p:txBody>
      </p:sp>
      <p:sp>
        <p:nvSpPr>
          <p:cNvPr id="6" name="Text 4"/>
          <p:cNvSpPr/>
          <p:nvPr/>
        </p:nvSpPr>
        <p:spPr>
          <a:xfrm>
            <a:off x="1371600" y="4526280"/>
            <a:ext cx="9448495" cy="457200"/>
          </a:xfrm>
          <a:prstGeom prst="rect">
            <a:avLst/>
          </a:prstGeom>
          <a:noFill/>
          <a:ln/>
        </p:spPr>
        <p:txBody>
          <a:bodyPr wrap="square" lIns="0" tIns="0" rIns="0" bIns="0" rtlCol="0" anchor="ctr"/>
          <a:lstStyle/>
          <a:p>
            <a:pPr marL="0" indent="0" algn="ctr" rtl="1">
              <a:buNone/>
            </a:pPr>
            <a:r>
              <a:rPr lang="en-US" sz="1800" dirty="0">
                <a:solidFill>
                  <a:srgbClr val="8B9AB3"/>
                </a:solidFill>
                <a:latin typeface="IBM Plex Sans Arabic" pitchFamily="34" charset="0"/>
                <a:ea typeface="IBM Plex Sans Arabic" pitchFamily="34" charset="-122"/>
                <a:cs typeface="IBM Plex Sans Arabic" pitchFamily="34" charset="-120"/>
              </a:rPr>
              <a:t>ما التحدي الذي يعاني منه المستخدمون؟</a:t>
            </a:r>
            <a:endParaRPr lang="en-US" sz="1800" dirty="0"/>
          </a:p>
        </p:txBody>
      </p:sp>
      <p:sp>
        <p:nvSpPr>
          <p:cNvPr id="7" name="Shape 5"/>
          <p:cNvSpPr/>
          <p:nvPr/>
        </p:nvSpPr>
        <p:spPr>
          <a:xfrm>
            <a:off x="435124" y="6198325"/>
            <a:ext cx="11277295" cy="0"/>
          </a:xfrm>
          <a:prstGeom prst="line">
            <a:avLst/>
          </a:prstGeom>
          <a:noFill/>
          <a:ln w="9525">
            <a:solidFill>
              <a:srgbClr val="1E2A3F"/>
            </a:solidFill>
            <a:prstDash val="solid"/>
          </a:ln>
        </p:spPr>
        <p:txBody>
          <a:bodyPr/>
          <a:lstStyle/>
          <a:p>
            <a:endParaRPr lang="en-SA"/>
          </a:p>
        </p:txBody>
      </p:sp>
      <p:pic>
        <p:nvPicPr>
          <p:cNvPr id="9" name="Image 1" descr="unpacked/ppt/media/image1.png"/>
          <p:cNvPicPr>
            <a:picLocks noChangeAspect="1"/>
          </p:cNvPicPr>
          <p:nvPr/>
        </p:nvPicPr>
        <p:blipFill>
          <a:blip r:embed="rId3"/>
          <a:stretch>
            <a:fillRect/>
          </a:stretch>
        </p:blipFill>
        <p:spPr>
          <a:xfrm>
            <a:off x="1366307" y="300446"/>
            <a:ext cx="1639948" cy="593054"/>
          </a:xfrm>
          <a:prstGeom prst="rect">
            <a:avLst/>
          </a:prstGeom>
        </p:spPr>
      </p:pic>
      <p:pic>
        <p:nvPicPr>
          <p:cNvPr id="10" name="Image 2" descr="unpacked/ppt/media/image5.png"/>
          <p:cNvPicPr>
            <a:picLocks noChangeAspect="1"/>
          </p:cNvPicPr>
          <p:nvPr/>
        </p:nvPicPr>
        <p:blipFill>
          <a:blip r:embed="rId4"/>
          <a:stretch>
            <a:fillRect/>
          </a:stretch>
        </p:blipFill>
        <p:spPr>
          <a:xfrm>
            <a:off x="10668130" y="6392962"/>
            <a:ext cx="1210056" cy="329184"/>
          </a:xfrm>
          <a:prstGeom prst="rect">
            <a:avLst/>
          </a:prstGeom>
        </p:spPr>
      </p:pic>
      <p:pic>
        <p:nvPicPr>
          <p:cNvPr id="11" name="Image 3" descr="unpacked/ppt/media/image3.png"/>
          <p:cNvPicPr>
            <a:picLocks noChangeAspect="1"/>
          </p:cNvPicPr>
          <p:nvPr/>
        </p:nvPicPr>
        <p:blipFill>
          <a:blip r:embed="rId5"/>
          <a:stretch>
            <a:fillRect/>
          </a:stretch>
        </p:blipFill>
        <p:spPr>
          <a:xfrm>
            <a:off x="10365661" y="300446"/>
            <a:ext cx="1512525" cy="694944"/>
          </a:xfrm>
          <a:prstGeom prst="rect">
            <a:avLst/>
          </a:prstGeom>
        </p:spPr>
      </p:pic>
      <p:pic>
        <p:nvPicPr>
          <p:cNvPr id="13" name="Picture 12" descr="A logo of a letter&#10;&#10;AI-generated content may be incorrect.">
            <a:extLst>
              <a:ext uri="{FF2B5EF4-FFF2-40B4-BE49-F238E27FC236}">
                <a16:creationId xmlns:a16="http://schemas.microsoft.com/office/drawing/2014/main" id="{FCAE14F1-A75F-F735-6EB1-11391DF8CC3F}"/>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تعريف المشكلة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Text 2"/>
          <p:cNvSpPr/>
          <p:nvPr/>
        </p:nvSpPr>
        <p:spPr>
          <a:xfrm>
            <a:off x="5438941" y="2051793"/>
            <a:ext cx="6295554" cy="3280058"/>
          </a:xfrm>
          <a:prstGeom prst="rect">
            <a:avLst/>
          </a:prstGeom>
          <a:noFill/>
          <a:ln/>
        </p:spPr>
        <p:txBody>
          <a:bodyPr wrap="square" lIns="0" tIns="0" rIns="0" bIns="0" rtlCol="0" anchor="t"/>
          <a:lstStyle/>
          <a:p>
            <a:pPr algn="r" rtl="1">
              <a:spcAft>
                <a:spcPts val="800"/>
              </a:spcAft>
            </a:pPr>
            <a:r>
              <a:rPr lang="ar-SA" dirty="0">
                <a:solidFill>
                  <a:schemeClr val="bg1">
                    <a:lumMod val="85000"/>
                  </a:schemeClr>
                </a:solidFill>
              </a:rPr>
              <a:t>يركز معظم الطلاب على هدف قصير المدى: اجتياز الاختبار والحصول على درجة مرتفعة، بدلاً من بناء فهم عميق وإتقان حقيقي للمهارات التي تقدمها المادة الدراسية.</a:t>
            </a:r>
            <a:br>
              <a:rPr lang="ar-SA" dirty="0">
                <a:solidFill>
                  <a:schemeClr val="bg1">
                    <a:lumMod val="85000"/>
                  </a:schemeClr>
                </a:solidFill>
              </a:rPr>
            </a:br>
            <a:br>
              <a:rPr lang="ar-SA" dirty="0">
                <a:solidFill>
                  <a:schemeClr val="bg1">
                    <a:lumMod val="85000"/>
                  </a:schemeClr>
                </a:solidFill>
              </a:rPr>
            </a:br>
            <a:r>
              <a:rPr lang="ar-SA" dirty="0">
                <a:solidFill>
                  <a:schemeClr val="bg1">
                    <a:lumMod val="85000"/>
                  </a:schemeClr>
                </a:solidFill>
              </a:rPr>
              <a:t>بعد انتهاء الاختبار، ينسى الطالب جزءًا كبيرًا مما تعلمه، ويكتشف لاحقًا أنه لم يطور المهارات الأساسية التي يحتاجها في حياته الأكاديمية والمهنية.</a:t>
            </a:r>
          </a:p>
          <a:p>
            <a:pPr algn="r" rtl="1">
              <a:spcAft>
                <a:spcPts val="800"/>
              </a:spcAft>
            </a:pPr>
            <a:r>
              <a:rPr lang="ar-SA" dirty="0">
                <a:solidFill>
                  <a:srgbClr val="00E5A0"/>
                </a:solidFill>
              </a:rPr>
              <a:t>من يعاني من هذه المشكلة؟</a:t>
            </a:r>
            <a:br>
              <a:rPr lang="ar-SA" dirty="0">
                <a:solidFill>
                  <a:schemeClr val="bg1">
                    <a:lumMod val="85000"/>
                  </a:schemeClr>
                </a:solidFill>
              </a:rPr>
            </a:br>
            <a:r>
              <a:rPr lang="ar-SA" dirty="0">
                <a:solidFill>
                  <a:schemeClr val="bg1">
                    <a:lumMod val="85000"/>
                  </a:schemeClr>
                </a:solidFill>
              </a:rPr>
              <a:t>طلاب الجامعات والمدارس.</a:t>
            </a:r>
            <a:br>
              <a:rPr lang="ar-SA" dirty="0">
                <a:solidFill>
                  <a:schemeClr val="bg1">
                    <a:lumMod val="85000"/>
                  </a:schemeClr>
                </a:solidFill>
              </a:rPr>
            </a:br>
            <a:r>
              <a:rPr lang="ar-SA" dirty="0">
                <a:solidFill>
                  <a:schemeClr val="bg1">
                    <a:lumMod val="85000"/>
                  </a:schemeClr>
                </a:solidFill>
              </a:rPr>
              <a:t>المتعلمون الذين يعتمدون على الحفظ المؤقت.</a:t>
            </a:r>
            <a:br>
              <a:rPr lang="ar-SA" dirty="0">
                <a:solidFill>
                  <a:schemeClr val="bg1">
                    <a:lumMod val="85000"/>
                  </a:schemeClr>
                </a:solidFill>
              </a:rPr>
            </a:br>
            <a:r>
              <a:rPr lang="ar-SA" dirty="0">
                <a:solidFill>
                  <a:schemeClr val="bg1">
                    <a:lumMod val="85000"/>
                  </a:schemeClr>
                </a:solidFill>
              </a:rPr>
              <a:t>الخريجون الذين يمتلكون درجات جيدة لكن تنقصهم المهارات العملية.</a:t>
            </a:r>
            <a:br>
              <a:rPr lang="ar-SA" dirty="0">
                <a:solidFill>
                  <a:schemeClr val="bg1">
                    <a:lumMod val="85000"/>
                  </a:schemeClr>
                </a:solidFill>
              </a:rPr>
            </a:br>
            <a:br>
              <a:rPr lang="ar-SA" dirty="0">
                <a:solidFill>
                  <a:schemeClr val="bg1">
                    <a:lumMod val="85000"/>
                  </a:schemeClr>
                </a:solidFill>
              </a:rPr>
            </a:br>
            <a:endParaRPr lang="en-US" dirty="0">
              <a:solidFill>
                <a:schemeClr val="bg1">
                  <a:lumMod val="85000"/>
                </a:schemeClr>
              </a:solidFill>
            </a:endParaRPr>
          </a:p>
        </p:txBody>
      </p:sp>
      <p:sp>
        <p:nvSpPr>
          <p:cNvPr id="5" name="Text 3"/>
          <p:cNvSpPr/>
          <p:nvPr/>
        </p:nvSpPr>
        <p:spPr>
          <a:xfrm>
            <a:off x="6187288" y="3520440"/>
            <a:ext cx="5547208" cy="1097280"/>
          </a:xfrm>
          <a:prstGeom prst="rect">
            <a:avLst/>
          </a:prstGeom>
          <a:noFill/>
          <a:ln/>
        </p:spPr>
        <p:txBody>
          <a:bodyPr wrap="square" lIns="0" tIns="0" rIns="0" bIns="0" rtlCol="0" anchor="t"/>
          <a:lstStyle/>
          <a:p>
            <a:pPr marL="0" indent="0" algn="r" rtl="1">
              <a:buNone/>
            </a:pPr>
            <a:endParaRPr lang="en-US" sz="1600" dirty="0"/>
          </a:p>
        </p:txBody>
      </p:sp>
      <p:sp>
        <p:nvSpPr>
          <p:cNvPr id="6" name="Shape 4"/>
          <p:cNvSpPr/>
          <p:nvPr/>
        </p:nvSpPr>
        <p:spPr>
          <a:xfrm>
            <a:off x="457200" y="2103120"/>
            <a:ext cx="4697416" cy="2134027"/>
          </a:xfrm>
          <a:prstGeom prst="roundRect">
            <a:avLst>
              <a:gd name="adj" fmla="val 2740"/>
            </a:avLst>
          </a:prstGeom>
          <a:solidFill>
            <a:srgbClr val="121A2A"/>
          </a:solidFill>
          <a:ln w="12700">
            <a:solidFill>
              <a:srgbClr val="1E2A3F"/>
            </a:solidFill>
            <a:prstDash val="solid"/>
          </a:ln>
        </p:spPr>
        <p:txBody>
          <a:bodyPr/>
          <a:lstStyle/>
          <a:p>
            <a:endParaRPr lang="en-SA"/>
          </a:p>
        </p:txBody>
      </p:sp>
      <p:sp>
        <p:nvSpPr>
          <p:cNvPr id="7" name="Shape 5"/>
          <p:cNvSpPr/>
          <p:nvPr/>
        </p:nvSpPr>
        <p:spPr>
          <a:xfrm>
            <a:off x="5154617" y="2088953"/>
            <a:ext cx="79058" cy="2134025"/>
          </a:xfrm>
          <a:prstGeom prst="rect">
            <a:avLst/>
          </a:prstGeom>
          <a:solidFill>
            <a:srgbClr val="00E5A0"/>
          </a:solidFill>
          <a:ln w="12700">
            <a:solidFill>
              <a:srgbClr val="00E5A0"/>
            </a:solidFill>
            <a:prstDash val="solid"/>
          </a:ln>
        </p:spPr>
        <p:txBody>
          <a:bodyPr/>
          <a:lstStyle/>
          <a:p>
            <a:endParaRPr lang="en-SA"/>
          </a:p>
        </p:txBody>
      </p:sp>
      <p:sp>
        <p:nvSpPr>
          <p:cNvPr id="8" name="Text 6"/>
          <p:cNvSpPr/>
          <p:nvPr/>
        </p:nvSpPr>
        <p:spPr>
          <a:xfrm>
            <a:off x="602590" y="2051793"/>
            <a:ext cx="914400" cy="822960"/>
          </a:xfrm>
          <a:prstGeom prst="rect">
            <a:avLst/>
          </a:prstGeom>
          <a:noFill/>
          <a:ln/>
        </p:spPr>
        <p:txBody>
          <a:bodyPr wrap="square" lIns="0" tIns="0" rIns="0" bIns="0" rtlCol="0" anchor="t"/>
          <a:lstStyle/>
          <a:p>
            <a:pPr marL="0" indent="0" algn="l">
              <a:buNone/>
            </a:pPr>
            <a:r>
              <a:rPr lang="en-US" sz="7000" b="1" dirty="0">
                <a:solidFill>
                  <a:srgbClr val="00E5A0"/>
                </a:solidFill>
                <a:latin typeface="IBM Plex Sans Arabic" pitchFamily="34" charset="0"/>
                <a:ea typeface="IBM Plex Sans Arabic" pitchFamily="34" charset="-122"/>
                <a:cs typeface="IBM Plex Sans Arabic" pitchFamily="34" charset="-120"/>
              </a:rPr>
              <a:t>”</a:t>
            </a:r>
            <a:endParaRPr lang="en-US" sz="7000" dirty="0"/>
          </a:p>
        </p:txBody>
      </p:sp>
      <p:sp>
        <p:nvSpPr>
          <p:cNvPr id="9" name="Text 7"/>
          <p:cNvSpPr/>
          <p:nvPr/>
        </p:nvSpPr>
        <p:spPr>
          <a:xfrm>
            <a:off x="630942" y="2550174"/>
            <a:ext cx="4228325" cy="1211582"/>
          </a:xfrm>
          <a:prstGeom prst="rect">
            <a:avLst/>
          </a:prstGeom>
          <a:noFill/>
          <a:ln/>
        </p:spPr>
        <p:txBody>
          <a:bodyPr wrap="square" lIns="0" tIns="0" rIns="0" bIns="0" rtlCol="0" anchor="t"/>
          <a:lstStyle/>
          <a:p>
            <a:pPr algn="r" rtl="1"/>
            <a:r>
              <a:rPr lang="ar-SA" sz="1600" b="1" dirty="0">
                <a:solidFill>
                  <a:srgbClr val="C00000"/>
                </a:solidFill>
              </a:rPr>
              <a:t>تشير الأبحاث</a:t>
            </a:r>
          </a:p>
          <a:p>
            <a:pPr algn="r" rtl="1"/>
            <a:r>
              <a:rPr lang="ar-SA" sz="1600" dirty="0">
                <a:solidFill>
                  <a:schemeClr val="bg1">
                    <a:lumMod val="85000"/>
                  </a:schemeClr>
                </a:solidFill>
              </a:rPr>
              <a:t> إلى أن الممارسة القائمة على الاسترجاع والتكرار المتباعد من أكثر الأساليب فاعلية لتحسين التعلم طويل المدى، ومع ذلك لا تزال معظم طرق الدراسة التقليدية تركز على الحفظ المؤقت فقط. </a:t>
            </a:r>
            <a:r>
              <a:rPr lang="en-US" sz="1600" dirty="0">
                <a:solidFill>
                  <a:schemeClr val="bg1">
                    <a:lumMod val="85000"/>
                  </a:schemeClr>
                </a:solidFill>
                <a:hlinkClick r:id="rId3" tooltip="https://www.learningscientists.org/strategies/spaced-practice?utm_source=chatgpt.com">
                  <a:extLst>
                    <a:ext uri="{A12FA001-AC4F-418D-AE19-62706E023703}">
                      <ahyp:hlinkClr xmlns:ahyp="http://schemas.microsoft.com/office/drawing/2018/hyperlinkcolor" val="tx"/>
                    </a:ext>
                  </a:extLst>
                </a:hlinkClick>
              </a:rPr>
              <a:t>The Learning Scientists – Spaced Practice</a:t>
            </a:r>
            <a:endParaRPr lang="en-US" sz="1600" dirty="0">
              <a:solidFill>
                <a:schemeClr val="bg1">
                  <a:lumMod val="85000"/>
                </a:schemeClr>
              </a:solidFill>
            </a:endParaRPr>
          </a:p>
        </p:txBody>
      </p:sp>
      <p:sp>
        <p:nvSpPr>
          <p:cNvPr id="10" name="Shape 8"/>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3" name="Image 2" descr="unpacked/ppt/media/image5.png"/>
          <p:cNvPicPr>
            <a:picLocks noChangeAspect="1"/>
          </p:cNvPicPr>
          <p:nvPr/>
        </p:nvPicPr>
        <p:blipFill>
          <a:blip r:embed="rId4"/>
          <a:stretch>
            <a:fillRect/>
          </a:stretch>
        </p:blipFill>
        <p:spPr>
          <a:xfrm>
            <a:off x="10668130" y="6392962"/>
            <a:ext cx="1210056" cy="329184"/>
          </a:xfrm>
          <a:prstGeom prst="rect">
            <a:avLst/>
          </a:prstGeom>
        </p:spPr>
      </p:pic>
      <p:pic>
        <p:nvPicPr>
          <p:cNvPr id="15" name="Image 1" descr="unpacked/ppt/media/image1.png">
            <a:extLst>
              <a:ext uri="{FF2B5EF4-FFF2-40B4-BE49-F238E27FC236}">
                <a16:creationId xmlns:a16="http://schemas.microsoft.com/office/drawing/2014/main" id="{39D98E35-FA76-4DA2-8044-7FC9B8768F44}"/>
              </a:ext>
            </a:extLst>
          </p:cNvPr>
          <p:cNvPicPr>
            <a:picLocks noChangeAspect="1"/>
          </p:cNvPicPr>
          <p:nvPr/>
        </p:nvPicPr>
        <p:blipFill>
          <a:blip r:embed="rId5"/>
          <a:stretch>
            <a:fillRect/>
          </a:stretch>
        </p:blipFill>
        <p:spPr>
          <a:xfrm>
            <a:off x="1366307" y="300446"/>
            <a:ext cx="1639948" cy="593054"/>
          </a:xfrm>
          <a:prstGeom prst="rect">
            <a:avLst/>
          </a:prstGeom>
        </p:spPr>
      </p:pic>
      <p:pic>
        <p:nvPicPr>
          <p:cNvPr id="16" name="Image 3" descr="unpacked/ppt/media/image3.png">
            <a:extLst>
              <a:ext uri="{FF2B5EF4-FFF2-40B4-BE49-F238E27FC236}">
                <a16:creationId xmlns:a16="http://schemas.microsoft.com/office/drawing/2014/main" id="{8C226AF9-1460-96F8-21E5-ABD69F6C5A94}"/>
              </a:ext>
            </a:extLst>
          </p:cNvPr>
          <p:cNvPicPr>
            <a:picLocks noChangeAspect="1"/>
          </p:cNvPicPr>
          <p:nvPr/>
        </p:nvPicPr>
        <p:blipFill>
          <a:blip r:embed="rId6"/>
          <a:stretch>
            <a:fillRect/>
          </a:stretch>
        </p:blipFill>
        <p:spPr>
          <a:xfrm>
            <a:off x="10365661" y="300446"/>
            <a:ext cx="1512525" cy="694944"/>
          </a:xfrm>
          <a:prstGeom prst="rect">
            <a:avLst/>
          </a:prstGeom>
        </p:spPr>
      </p:pic>
      <p:pic>
        <p:nvPicPr>
          <p:cNvPr id="17" name="Picture 16" descr="A logo of a letter&#10;&#10;AI-generated content may be incorrect.">
            <a:extLst>
              <a:ext uri="{FF2B5EF4-FFF2-40B4-BE49-F238E27FC236}">
                <a16:creationId xmlns:a16="http://schemas.microsoft.com/office/drawing/2014/main" id="{55DBE682-F76E-890A-C667-4F1E539B1CBC}"/>
              </a:ext>
            </a:extLst>
          </p:cNvPr>
          <p:cNvPicPr>
            <a:picLocks noChangeAspect="1"/>
          </p:cNvPicPr>
          <p:nvPr/>
        </p:nvPicPr>
        <p:blipFill>
          <a:blip r:embed="rId7"/>
          <a:stretch>
            <a:fillRect/>
          </a:stretch>
        </p:blipFill>
        <p:spPr>
          <a:xfrm>
            <a:off x="488110" y="357922"/>
            <a:ext cx="465038" cy="46503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371600"/>
            <a:ext cx="11277295" cy="1371600"/>
          </a:xfrm>
          <a:prstGeom prst="rect">
            <a:avLst/>
          </a:prstGeom>
          <a:noFill/>
          <a:ln/>
        </p:spPr>
        <p:txBody>
          <a:bodyPr wrap="square" lIns="0" tIns="0" rIns="0" bIns="0" rtlCol="0" anchor="ctr"/>
          <a:lstStyle/>
          <a:p>
            <a:pPr marL="0" indent="0" algn="ctr">
              <a:buNone/>
            </a:pPr>
            <a:r>
              <a:rPr lang="en-US" sz="11000" b="1" dirty="0">
                <a:solidFill>
                  <a:srgbClr val="121A2A"/>
                </a:solidFill>
                <a:latin typeface="IBM Plex Sans Arabic" pitchFamily="34" charset="0"/>
                <a:ea typeface="IBM Plex Sans Arabic" pitchFamily="34" charset="-122"/>
                <a:cs typeface="IBM Plex Sans Arabic" pitchFamily="34" charset="-120"/>
              </a:rPr>
              <a:t>02</a:t>
            </a:r>
            <a:endParaRPr lang="en-US" sz="11000" dirty="0"/>
          </a:p>
        </p:txBody>
      </p:sp>
      <p:sp>
        <p:nvSpPr>
          <p:cNvPr id="3" name="Shape 1"/>
          <p:cNvSpPr/>
          <p:nvPr/>
        </p:nvSpPr>
        <p:spPr>
          <a:xfrm>
            <a:off x="5318608" y="3017520"/>
            <a:ext cx="1554480" cy="365760"/>
          </a:xfrm>
          <a:prstGeom prst="roundRect">
            <a:avLst>
              <a:gd name="adj" fmla="val 50000"/>
            </a:avLst>
          </a:prstGeom>
          <a:solidFill>
            <a:srgbClr val="121A2A"/>
          </a:solidFill>
          <a:ln w="12700">
            <a:solidFill>
              <a:srgbClr val="008C66"/>
            </a:solidFill>
            <a:prstDash val="solid"/>
          </a:ln>
        </p:spPr>
        <p:txBody>
          <a:bodyPr/>
          <a:lstStyle/>
          <a:p>
            <a:endParaRPr lang="en-SA"/>
          </a:p>
        </p:txBody>
      </p:sp>
      <p:sp>
        <p:nvSpPr>
          <p:cNvPr id="4" name="Text 2"/>
          <p:cNvSpPr/>
          <p:nvPr/>
        </p:nvSpPr>
        <p:spPr>
          <a:xfrm>
            <a:off x="5318608" y="3017520"/>
            <a:ext cx="1554480" cy="365760"/>
          </a:xfrm>
          <a:prstGeom prst="rect">
            <a:avLst/>
          </a:prstGeom>
          <a:noFill/>
          <a:ln/>
        </p:spPr>
        <p:txBody>
          <a:bodyPr wrap="square" lIns="0" tIns="0" rIns="0" bIns="0" rtlCol="0" anchor="ctr"/>
          <a:lstStyle/>
          <a:p>
            <a:pPr marL="0" indent="0" algn="ctr" rtl="1">
              <a:buNone/>
            </a:pPr>
            <a:r>
              <a:rPr lang="en-US" sz="1200" b="1" dirty="0">
                <a:solidFill>
                  <a:srgbClr val="00E5A0"/>
                </a:solidFill>
                <a:latin typeface="IBM Plex Sans Arabic" pitchFamily="34" charset="0"/>
                <a:ea typeface="IBM Plex Sans Arabic" pitchFamily="34" charset="-122"/>
                <a:cs typeface="IBM Plex Sans Arabic" pitchFamily="34" charset="-120"/>
              </a:rPr>
              <a:t>الفكرة</a:t>
            </a:r>
            <a:endParaRPr lang="en-US" sz="1200" dirty="0"/>
          </a:p>
        </p:txBody>
      </p:sp>
      <p:sp>
        <p:nvSpPr>
          <p:cNvPr id="5" name="Text 3"/>
          <p:cNvSpPr/>
          <p:nvPr/>
        </p:nvSpPr>
        <p:spPr>
          <a:xfrm>
            <a:off x="457200" y="3520440"/>
            <a:ext cx="11277295" cy="868680"/>
          </a:xfrm>
          <a:prstGeom prst="rect">
            <a:avLst/>
          </a:prstGeom>
          <a:noFill/>
          <a:ln/>
        </p:spPr>
        <p:txBody>
          <a:bodyPr wrap="square" lIns="0" tIns="0" rIns="0" bIns="0" rtlCol="0" anchor="ctr"/>
          <a:lstStyle/>
          <a:p>
            <a:pPr marL="0" indent="0" algn="ctr" rtl="1">
              <a:buNone/>
            </a:pPr>
            <a:r>
              <a:rPr lang="en-US" sz="5600" b="1" dirty="0">
                <a:solidFill>
                  <a:srgbClr val="E6EDF7"/>
                </a:solidFill>
                <a:latin typeface="IBM Plex Sans Arabic" pitchFamily="34" charset="0"/>
                <a:ea typeface="IBM Plex Sans Arabic" pitchFamily="34" charset="-122"/>
                <a:cs typeface="IBM Plex Sans Arabic" pitchFamily="34" charset="-120"/>
              </a:rPr>
              <a:t>الحل</a:t>
            </a:r>
            <a:endParaRPr lang="en-US" sz="5600" dirty="0"/>
          </a:p>
        </p:txBody>
      </p:sp>
      <p:sp>
        <p:nvSpPr>
          <p:cNvPr id="6" name="Text 4"/>
          <p:cNvSpPr/>
          <p:nvPr/>
        </p:nvSpPr>
        <p:spPr>
          <a:xfrm>
            <a:off x="1371600" y="4526280"/>
            <a:ext cx="9448495" cy="457200"/>
          </a:xfrm>
          <a:prstGeom prst="rect">
            <a:avLst/>
          </a:prstGeom>
          <a:noFill/>
          <a:ln/>
        </p:spPr>
        <p:txBody>
          <a:bodyPr wrap="square" lIns="0" tIns="0" rIns="0" bIns="0" rtlCol="0" anchor="ctr"/>
          <a:lstStyle/>
          <a:p>
            <a:pPr marL="0" indent="0" algn="ctr" rtl="1">
              <a:buNone/>
            </a:pPr>
            <a:r>
              <a:rPr lang="en-US" sz="1800" dirty="0">
                <a:solidFill>
                  <a:srgbClr val="8B9AB3"/>
                </a:solidFill>
                <a:latin typeface="IBM Plex Sans Arabic" pitchFamily="34" charset="0"/>
                <a:ea typeface="IBM Plex Sans Arabic" pitchFamily="34" charset="-122"/>
                <a:cs typeface="IBM Plex Sans Arabic" pitchFamily="34" charset="-120"/>
              </a:rPr>
              <a:t>كيف تحل مشكلة المستخدم؟</a:t>
            </a:r>
            <a:endParaRPr lang="en-US" sz="1800" dirty="0"/>
          </a:p>
        </p:txBody>
      </p:sp>
      <p:sp>
        <p:nvSpPr>
          <p:cNvPr id="7" name="Shape 5"/>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0" name="Image 2" descr="unpacked/ppt/media/image5.png"/>
          <p:cNvPicPr>
            <a:picLocks noChangeAspect="1"/>
          </p:cNvPicPr>
          <p:nvPr/>
        </p:nvPicPr>
        <p:blipFill>
          <a:blip r:embed="rId3"/>
          <a:stretch>
            <a:fillRect/>
          </a:stretch>
        </p:blipFill>
        <p:spPr>
          <a:xfrm>
            <a:off x="10668130" y="6392962"/>
            <a:ext cx="1210056" cy="329184"/>
          </a:xfrm>
          <a:prstGeom prst="rect">
            <a:avLst/>
          </a:prstGeom>
        </p:spPr>
      </p:pic>
      <p:pic>
        <p:nvPicPr>
          <p:cNvPr id="12" name="Image 1" descr="unpacked/ppt/media/image1.png">
            <a:extLst>
              <a:ext uri="{FF2B5EF4-FFF2-40B4-BE49-F238E27FC236}">
                <a16:creationId xmlns:a16="http://schemas.microsoft.com/office/drawing/2014/main" id="{672F2100-7742-009B-406C-C89BEFC5EE9B}"/>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3" name="Image 3" descr="unpacked/ppt/media/image3.png">
            <a:extLst>
              <a:ext uri="{FF2B5EF4-FFF2-40B4-BE49-F238E27FC236}">
                <a16:creationId xmlns:a16="http://schemas.microsoft.com/office/drawing/2014/main" id="{70A37884-76B1-4475-9676-81BFAA6F9D65}"/>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4" name="Picture 13" descr="A logo of a letter&#10;&#10;AI-generated content may be incorrect.">
            <a:extLst>
              <a:ext uri="{FF2B5EF4-FFF2-40B4-BE49-F238E27FC236}">
                <a16:creationId xmlns:a16="http://schemas.microsoft.com/office/drawing/2014/main" id="{C0818C2C-ADFF-5603-3CE2-1D01CB7219FF}"/>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نظرة عامة على الحل</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6233008" y="214884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5" name="Shape 3"/>
          <p:cNvSpPr/>
          <p:nvPr/>
        </p:nvSpPr>
        <p:spPr>
          <a:xfrm>
            <a:off x="11679631" y="2286000"/>
            <a:ext cx="54864" cy="1417320"/>
          </a:xfrm>
          <a:prstGeom prst="rect">
            <a:avLst/>
          </a:prstGeom>
          <a:solidFill>
            <a:srgbClr val="00E5A0"/>
          </a:solidFill>
          <a:ln w="12700">
            <a:solidFill>
              <a:srgbClr val="00E5A0"/>
            </a:solidFill>
            <a:prstDash val="solid"/>
          </a:ln>
        </p:spPr>
        <p:txBody>
          <a:bodyPr/>
          <a:lstStyle/>
          <a:p>
            <a:endParaRPr lang="en-SA"/>
          </a:p>
        </p:txBody>
      </p:sp>
      <p:sp>
        <p:nvSpPr>
          <p:cNvPr id="6" name="Text 4"/>
          <p:cNvSpPr/>
          <p:nvPr/>
        </p:nvSpPr>
        <p:spPr>
          <a:xfrm>
            <a:off x="6461608" y="233172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الفكرة الجوهرية</a:t>
            </a:r>
            <a:endParaRPr lang="en-US" sz="1600" dirty="0"/>
          </a:p>
        </p:txBody>
      </p:sp>
      <p:sp>
        <p:nvSpPr>
          <p:cNvPr id="7" name="Text 5"/>
          <p:cNvSpPr/>
          <p:nvPr/>
        </p:nvSpPr>
        <p:spPr>
          <a:xfrm>
            <a:off x="6461608" y="2788920"/>
            <a:ext cx="5044288" cy="914400"/>
          </a:xfrm>
          <a:prstGeom prst="rect">
            <a:avLst/>
          </a:prstGeom>
          <a:noFill/>
          <a:ln/>
        </p:spPr>
        <p:txBody>
          <a:bodyPr wrap="square" lIns="0" tIns="0" rIns="0" bIns="0" rtlCol="0" anchor="t"/>
          <a:lstStyle/>
          <a:p>
            <a:pPr algn="r"/>
            <a:r>
              <a:rPr lang="ar-SA" sz="1600" dirty="0">
                <a:solidFill>
                  <a:schemeClr val="bg1">
                    <a:lumMod val="85000"/>
                  </a:schemeClr>
                </a:solidFill>
              </a:rPr>
              <a:t>نحوّل كل مادة دراسية إلى شجرة مهارات واضحة توضح ما يجب أن يتقنه الطالب فعليًا، ثم نستخدم وكلاء ذكاء اصطناعي لتقييم مستوى الإتقان من خلال أنشطة عملية وألعاب تعليمية، وليس فقط اختبارات تقليدية</a:t>
            </a:r>
          </a:p>
          <a:p>
            <a:br>
              <a:rPr lang="ar-SA" sz="1400" dirty="0"/>
            </a:br>
            <a:endParaRPr lang="en-US" sz="1300" dirty="0"/>
          </a:p>
        </p:txBody>
      </p:sp>
      <p:sp>
        <p:nvSpPr>
          <p:cNvPr id="8" name="Shape 6"/>
          <p:cNvSpPr/>
          <p:nvPr/>
        </p:nvSpPr>
        <p:spPr>
          <a:xfrm>
            <a:off x="457200" y="214884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9" name="Shape 7"/>
          <p:cNvSpPr/>
          <p:nvPr/>
        </p:nvSpPr>
        <p:spPr>
          <a:xfrm>
            <a:off x="5903824" y="2286000"/>
            <a:ext cx="54864" cy="1417320"/>
          </a:xfrm>
          <a:prstGeom prst="rect">
            <a:avLst/>
          </a:prstGeom>
          <a:solidFill>
            <a:srgbClr val="00E5A0"/>
          </a:solidFill>
          <a:ln w="12700">
            <a:solidFill>
              <a:srgbClr val="00E5A0"/>
            </a:solidFill>
            <a:prstDash val="solid"/>
          </a:ln>
        </p:spPr>
        <p:txBody>
          <a:bodyPr/>
          <a:lstStyle/>
          <a:p>
            <a:endParaRPr lang="en-SA"/>
          </a:p>
        </p:txBody>
      </p:sp>
      <p:sp>
        <p:nvSpPr>
          <p:cNvPr id="10" name="Text 8"/>
          <p:cNvSpPr/>
          <p:nvPr/>
        </p:nvSpPr>
        <p:spPr>
          <a:xfrm>
            <a:off x="685800" y="233172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المستخدم المستهدف</a:t>
            </a:r>
            <a:endParaRPr lang="en-US" sz="1600" dirty="0"/>
          </a:p>
        </p:txBody>
      </p:sp>
      <p:sp>
        <p:nvSpPr>
          <p:cNvPr id="11" name="Text 9"/>
          <p:cNvSpPr/>
          <p:nvPr/>
        </p:nvSpPr>
        <p:spPr>
          <a:xfrm>
            <a:off x="685800" y="2788920"/>
            <a:ext cx="5044288" cy="914400"/>
          </a:xfrm>
          <a:prstGeom prst="rect">
            <a:avLst/>
          </a:prstGeom>
          <a:noFill/>
          <a:ln/>
        </p:spPr>
        <p:txBody>
          <a:bodyPr wrap="square" lIns="0" tIns="0" rIns="0" bIns="0" rtlCol="0" anchor="t"/>
          <a:lstStyle/>
          <a:p>
            <a:pPr marL="0" indent="0" algn="r" rtl="1">
              <a:buNone/>
            </a:pPr>
            <a:r>
              <a:rPr lang="ar-SA" sz="1300" dirty="0">
                <a:solidFill>
                  <a:srgbClr val="E6EDF7"/>
                </a:solidFill>
                <a:latin typeface="IBM Plex Sans Arabic" pitchFamily="34" charset="0"/>
                <a:ea typeface="IBM Plex Sans Arabic" pitchFamily="34" charset="-122"/>
              </a:rPr>
              <a:t>طلاب الجامعات والمدارس </a:t>
            </a:r>
            <a:endParaRPr lang="en-US" sz="1300" dirty="0"/>
          </a:p>
        </p:txBody>
      </p:sp>
      <p:sp>
        <p:nvSpPr>
          <p:cNvPr id="12" name="Shape 10"/>
          <p:cNvSpPr/>
          <p:nvPr/>
        </p:nvSpPr>
        <p:spPr>
          <a:xfrm>
            <a:off x="6233008" y="402336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13" name="Shape 11"/>
          <p:cNvSpPr/>
          <p:nvPr/>
        </p:nvSpPr>
        <p:spPr>
          <a:xfrm>
            <a:off x="11679631" y="4160520"/>
            <a:ext cx="54864" cy="1417320"/>
          </a:xfrm>
          <a:prstGeom prst="rect">
            <a:avLst/>
          </a:prstGeom>
          <a:solidFill>
            <a:srgbClr val="00E5A0"/>
          </a:solidFill>
          <a:ln w="12700">
            <a:solidFill>
              <a:srgbClr val="00E5A0"/>
            </a:solidFill>
            <a:prstDash val="solid"/>
          </a:ln>
        </p:spPr>
        <p:txBody>
          <a:bodyPr/>
          <a:lstStyle/>
          <a:p>
            <a:endParaRPr lang="en-SA"/>
          </a:p>
        </p:txBody>
      </p:sp>
      <p:sp>
        <p:nvSpPr>
          <p:cNvPr id="14" name="Text 12"/>
          <p:cNvSpPr/>
          <p:nvPr/>
        </p:nvSpPr>
        <p:spPr>
          <a:xfrm>
            <a:off x="6461608" y="420624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القيمة المضافة</a:t>
            </a:r>
            <a:endParaRPr lang="en-US" sz="1600" dirty="0"/>
          </a:p>
        </p:txBody>
      </p:sp>
      <p:sp>
        <p:nvSpPr>
          <p:cNvPr id="15" name="Text 13"/>
          <p:cNvSpPr/>
          <p:nvPr/>
        </p:nvSpPr>
        <p:spPr>
          <a:xfrm>
            <a:off x="6461608" y="4663440"/>
            <a:ext cx="5044288" cy="914400"/>
          </a:xfrm>
          <a:prstGeom prst="rect">
            <a:avLst/>
          </a:prstGeom>
          <a:noFill/>
          <a:ln/>
        </p:spPr>
        <p:txBody>
          <a:bodyPr wrap="square" lIns="0" tIns="0" rIns="0" bIns="0" rtlCol="0" anchor="t"/>
          <a:lstStyle/>
          <a:p>
            <a:pPr algn="r" rtl="1"/>
            <a:r>
              <a:rPr lang="ar-SA" sz="1600" dirty="0">
                <a:solidFill>
                  <a:schemeClr val="bg1">
                    <a:lumMod val="85000"/>
                  </a:schemeClr>
                </a:solidFill>
              </a:rPr>
              <a:t>بدلًا من مساعدة الطالب على النجاح في الاختبار فقط، يساعده النظام على اكتساب المهارات التي تمثل القيمة الحقيقية للمادة وتبقى معه على المدى الطويل.</a:t>
            </a:r>
            <a:endParaRPr lang="en-US" sz="1200" dirty="0">
              <a:solidFill>
                <a:schemeClr val="bg1">
                  <a:lumMod val="85000"/>
                </a:schemeClr>
              </a:solidFill>
            </a:endParaRPr>
          </a:p>
        </p:txBody>
      </p:sp>
      <p:sp>
        <p:nvSpPr>
          <p:cNvPr id="16" name="Shape 14"/>
          <p:cNvSpPr/>
          <p:nvPr/>
        </p:nvSpPr>
        <p:spPr>
          <a:xfrm>
            <a:off x="457200" y="4023360"/>
            <a:ext cx="5501488" cy="1691640"/>
          </a:xfrm>
          <a:prstGeom prst="roundRect">
            <a:avLst>
              <a:gd name="adj" fmla="val 5405"/>
            </a:avLst>
          </a:prstGeom>
          <a:solidFill>
            <a:srgbClr val="121A2A"/>
          </a:solidFill>
          <a:ln w="12700">
            <a:solidFill>
              <a:srgbClr val="1E2A3F"/>
            </a:solidFill>
            <a:prstDash val="solid"/>
          </a:ln>
        </p:spPr>
        <p:txBody>
          <a:bodyPr/>
          <a:lstStyle/>
          <a:p>
            <a:endParaRPr lang="en-SA"/>
          </a:p>
        </p:txBody>
      </p:sp>
      <p:sp>
        <p:nvSpPr>
          <p:cNvPr id="17" name="Shape 15"/>
          <p:cNvSpPr/>
          <p:nvPr/>
        </p:nvSpPr>
        <p:spPr>
          <a:xfrm>
            <a:off x="5903824" y="4160520"/>
            <a:ext cx="54864" cy="1417320"/>
          </a:xfrm>
          <a:prstGeom prst="rect">
            <a:avLst/>
          </a:prstGeom>
          <a:solidFill>
            <a:srgbClr val="00E5A0"/>
          </a:solidFill>
          <a:ln w="12700">
            <a:solidFill>
              <a:srgbClr val="00E5A0"/>
            </a:solidFill>
            <a:prstDash val="solid"/>
          </a:ln>
        </p:spPr>
        <p:txBody>
          <a:bodyPr/>
          <a:lstStyle/>
          <a:p>
            <a:endParaRPr lang="en-SA"/>
          </a:p>
        </p:txBody>
      </p:sp>
      <p:sp>
        <p:nvSpPr>
          <p:cNvPr id="18" name="Text 16"/>
          <p:cNvSpPr/>
          <p:nvPr/>
        </p:nvSpPr>
        <p:spPr>
          <a:xfrm>
            <a:off x="685800" y="4069080"/>
            <a:ext cx="5044288" cy="411480"/>
          </a:xfrm>
          <a:prstGeom prst="rect">
            <a:avLst/>
          </a:prstGeom>
          <a:noFill/>
          <a:ln/>
        </p:spPr>
        <p:txBody>
          <a:bodyPr wrap="square" lIns="0" tIns="0" rIns="0" bIns="0" rtlCol="0" anchor="ctr"/>
          <a:lstStyle/>
          <a:p>
            <a:pPr marL="0" indent="0" algn="r" rtl="1">
              <a:buNone/>
            </a:pPr>
            <a:r>
              <a:rPr lang="en-US" sz="1600" b="1" dirty="0">
                <a:solidFill>
                  <a:srgbClr val="00E5A0"/>
                </a:solidFill>
                <a:latin typeface="IBM Plex Sans Arabic" pitchFamily="34" charset="0"/>
                <a:ea typeface="IBM Plex Sans Arabic" pitchFamily="34" charset="-122"/>
                <a:cs typeface="IBM Plex Sans Arabic" pitchFamily="34" charset="-120"/>
              </a:rPr>
              <a:t>دور الوكلاء الذكيين</a:t>
            </a:r>
            <a:endParaRPr lang="en-US" sz="1600" dirty="0"/>
          </a:p>
        </p:txBody>
      </p:sp>
      <p:sp>
        <p:nvSpPr>
          <p:cNvPr id="19" name="Text 17"/>
          <p:cNvSpPr/>
          <p:nvPr/>
        </p:nvSpPr>
        <p:spPr>
          <a:xfrm>
            <a:off x="795528" y="4455124"/>
            <a:ext cx="4934560" cy="1600200"/>
          </a:xfrm>
          <a:prstGeom prst="rect">
            <a:avLst/>
          </a:prstGeom>
          <a:noFill/>
          <a:ln/>
        </p:spPr>
        <p:txBody>
          <a:bodyPr wrap="square" lIns="0" tIns="0" rIns="0" bIns="0" rtlCol="0" anchor="t"/>
          <a:lstStyle/>
          <a:p>
            <a:pPr algn="r" rtl="1"/>
            <a:r>
              <a:rPr lang="ar-SA" sz="1600" dirty="0">
                <a:solidFill>
                  <a:schemeClr val="bg1">
                    <a:lumMod val="85000"/>
                  </a:schemeClr>
                </a:solidFill>
              </a:rPr>
              <a:t>يقوم كل وكيل بدور مستقل:</a:t>
            </a:r>
            <a:br>
              <a:rPr lang="ar-SA" sz="1600" dirty="0">
                <a:solidFill>
                  <a:schemeClr val="bg1">
                    <a:lumMod val="85000"/>
                  </a:schemeClr>
                </a:solidFill>
              </a:rPr>
            </a:br>
            <a:r>
              <a:rPr lang="ar-SA" sz="1600" dirty="0">
                <a:solidFill>
                  <a:schemeClr val="bg1">
                    <a:lumMod val="85000"/>
                  </a:schemeClr>
                </a:solidFill>
              </a:rPr>
              <a:t>تحليل المحتوى واستخراج المهارات الأساسية.</a:t>
            </a:r>
            <a:br>
              <a:rPr lang="ar-SA" sz="1600" dirty="0">
                <a:solidFill>
                  <a:schemeClr val="bg1">
                    <a:lumMod val="85000"/>
                  </a:schemeClr>
                </a:solidFill>
              </a:rPr>
            </a:br>
            <a:r>
              <a:rPr lang="ar-SA" sz="1600" dirty="0">
                <a:solidFill>
                  <a:schemeClr val="bg1">
                    <a:lumMod val="85000"/>
                  </a:schemeClr>
                </a:solidFill>
              </a:rPr>
              <a:t>تقييم مستوى الإتقان.</a:t>
            </a:r>
            <a:br>
              <a:rPr lang="ar-SA" sz="1600" dirty="0">
                <a:solidFill>
                  <a:schemeClr val="bg1">
                    <a:lumMod val="85000"/>
                  </a:schemeClr>
                </a:solidFill>
              </a:rPr>
            </a:br>
            <a:r>
              <a:rPr lang="ar-SA" sz="1600" dirty="0">
                <a:solidFill>
                  <a:schemeClr val="bg1">
                    <a:lumMod val="85000"/>
                  </a:schemeClr>
                </a:solidFill>
              </a:rPr>
              <a:t>اكتشاف نقاط الضعف.</a:t>
            </a:r>
            <a:br>
              <a:rPr lang="ar-SA" sz="1600" dirty="0">
                <a:solidFill>
                  <a:schemeClr val="bg1">
                    <a:lumMod val="85000"/>
                  </a:schemeClr>
                </a:solidFill>
              </a:rPr>
            </a:br>
            <a:r>
              <a:rPr lang="ar-SA" sz="1600" dirty="0">
                <a:solidFill>
                  <a:schemeClr val="bg1">
                    <a:lumMod val="85000"/>
                  </a:schemeClr>
                </a:solidFill>
              </a:rPr>
              <a:t>توليد تحديات مخصصة لتحسين الأداء باستمرار</a:t>
            </a:r>
            <a:r>
              <a:rPr lang="en-US" sz="1600" dirty="0">
                <a:solidFill>
                  <a:schemeClr val="bg1">
                    <a:lumMod val="85000"/>
                  </a:schemeClr>
                </a:solidFill>
              </a:rPr>
              <a:t>.</a:t>
            </a:r>
          </a:p>
        </p:txBody>
      </p:sp>
      <p:sp>
        <p:nvSpPr>
          <p:cNvPr id="20" name="Shape 18"/>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3" name="Image 2" descr="unpacked/ppt/media/image5.png"/>
          <p:cNvPicPr>
            <a:picLocks noChangeAspect="1"/>
          </p:cNvPicPr>
          <p:nvPr/>
        </p:nvPicPr>
        <p:blipFill>
          <a:blip r:embed="rId3"/>
          <a:stretch>
            <a:fillRect/>
          </a:stretch>
        </p:blipFill>
        <p:spPr>
          <a:xfrm>
            <a:off x="10668130" y="6400800"/>
            <a:ext cx="1210056" cy="329184"/>
          </a:xfrm>
          <a:prstGeom prst="rect">
            <a:avLst/>
          </a:prstGeom>
        </p:spPr>
      </p:pic>
      <p:pic>
        <p:nvPicPr>
          <p:cNvPr id="25" name="Image 1" descr="unpacked/ppt/media/image1.png">
            <a:extLst>
              <a:ext uri="{FF2B5EF4-FFF2-40B4-BE49-F238E27FC236}">
                <a16:creationId xmlns:a16="http://schemas.microsoft.com/office/drawing/2014/main" id="{8501094B-93E3-0E53-B127-CC516DE5003C}"/>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6" name="Image 3" descr="unpacked/ppt/media/image3.png">
            <a:extLst>
              <a:ext uri="{FF2B5EF4-FFF2-40B4-BE49-F238E27FC236}">
                <a16:creationId xmlns:a16="http://schemas.microsoft.com/office/drawing/2014/main" id="{58D43197-5593-6537-AAD0-8DD75385899F}"/>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7" name="Picture 26" descr="A logo of a letter&#10;&#10;AI-generated content may be incorrect.">
            <a:extLst>
              <a:ext uri="{FF2B5EF4-FFF2-40B4-BE49-F238E27FC236}">
                <a16:creationId xmlns:a16="http://schemas.microsoft.com/office/drawing/2014/main" id="{F2F3B822-1AFC-8EA1-62F8-ABA73AF6AA92}"/>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المميزات الرئيسية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810752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5" name="Shape 3"/>
          <p:cNvSpPr/>
          <p:nvPr/>
        </p:nvSpPr>
        <p:spPr>
          <a:xfrm>
            <a:off x="10805008" y="2560320"/>
            <a:ext cx="502920" cy="502920"/>
          </a:xfrm>
          <a:prstGeom prst="ellipse">
            <a:avLst/>
          </a:prstGeom>
          <a:solidFill>
            <a:srgbClr val="00E5A0"/>
          </a:solidFill>
          <a:ln w="12700">
            <a:solidFill>
              <a:srgbClr val="00E5A0"/>
            </a:solidFill>
            <a:prstDash val="solid"/>
          </a:ln>
        </p:spPr>
        <p:txBody>
          <a:bodyPr/>
          <a:lstStyle/>
          <a:p>
            <a:endParaRPr lang="en-SA"/>
          </a:p>
        </p:txBody>
      </p:sp>
      <p:sp>
        <p:nvSpPr>
          <p:cNvPr id="6" name="Text 4"/>
          <p:cNvSpPr/>
          <p:nvPr/>
        </p:nvSpPr>
        <p:spPr>
          <a:xfrm>
            <a:off x="10805008" y="2560320"/>
            <a:ext cx="502920" cy="502920"/>
          </a:xfrm>
          <a:prstGeom prst="rect">
            <a:avLst/>
          </a:prstGeom>
          <a:noFill/>
          <a:ln/>
        </p:spPr>
        <p:txBody>
          <a:bodyPr wrap="square" lIns="0" tIns="0" rIns="0" bIns="0" rtlCol="0" anchor="ctr"/>
          <a:lstStyle/>
          <a:p>
            <a:pPr marL="0" indent="0" algn="ctr">
              <a:buNone/>
            </a:pPr>
            <a:r>
              <a:rPr lang="en-US" sz="1800" b="1" dirty="0">
                <a:solidFill>
                  <a:srgbClr val="0B1220"/>
                </a:solidFill>
                <a:latin typeface="IBM Plex Sans Arabic" pitchFamily="34" charset="0"/>
                <a:ea typeface="IBM Plex Sans Arabic" pitchFamily="34" charset="-122"/>
                <a:cs typeface="IBM Plex Sans Arabic" pitchFamily="34" charset="-120"/>
              </a:rPr>
              <a:t>1</a:t>
            </a:r>
            <a:endParaRPr lang="en-US" sz="1800" dirty="0"/>
          </a:p>
        </p:txBody>
      </p:sp>
      <p:sp>
        <p:nvSpPr>
          <p:cNvPr id="7" name="Text 5"/>
          <p:cNvSpPr/>
          <p:nvPr/>
        </p:nvSpPr>
        <p:spPr>
          <a:xfrm>
            <a:off x="8381848" y="3291840"/>
            <a:ext cx="2926080" cy="502920"/>
          </a:xfrm>
          <a:prstGeom prst="rect">
            <a:avLst/>
          </a:prstGeom>
          <a:noFill/>
          <a:ln/>
        </p:spPr>
        <p:txBody>
          <a:bodyPr wrap="square" lIns="0" tIns="0" rIns="0" bIns="0" rtlCol="0" anchor="ctr"/>
          <a:lstStyle/>
          <a:p>
            <a:pPr algn="r" rtl="1"/>
            <a:r>
              <a:rPr lang="ar-SA" sz="2000" b="1" dirty="0">
                <a:solidFill>
                  <a:schemeClr val="bg1">
                    <a:lumMod val="85000"/>
                  </a:schemeClr>
                </a:solidFill>
              </a:rPr>
              <a:t>شجرة مهارات مرتبطة بالمادة</a:t>
            </a:r>
            <a:endParaRPr lang="en-US" sz="2400" b="1" dirty="0">
              <a:solidFill>
                <a:schemeClr val="bg1">
                  <a:lumMod val="85000"/>
                </a:schemeClr>
              </a:solidFill>
            </a:endParaRPr>
          </a:p>
        </p:txBody>
      </p:sp>
      <p:sp>
        <p:nvSpPr>
          <p:cNvPr id="8" name="Shape 6"/>
          <p:cNvSpPr/>
          <p:nvPr/>
        </p:nvSpPr>
        <p:spPr>
          <a:xfrm>
            <a:off x="10850728" y="3867912"/>
            <a:ext cx="457200" cy="27432"/>
          </a:xfrm>
          <a:prstGeom prst="rect">
            <a:avLst/>
          </a:prstGeom>
          <a:solidFill>
            <a:srgbClr val="00E5A0"/>
          </a:solidFill>
          <a:ln w="12700">
            <a:solidFill>
              <a:srgbClr val="00E5A0"/>
            </a:solidFill>
            <a:prstDash val="solid"/>
          </a:ln>
        </p:spPr>
        <p:txBody>
          <a:bodyPr/>
          <a:lstStyle/>
          <a:p>
            <a:endParaRPr lang="en-SA"/>
          </a:p>
        </p:txBody>
      </p:sp>
      <p:sp>
        <p:nvSpPr>
          <p:cNvPr id="9" name="Text 7"/>
          <p:cNvSpPr/>
          <p:nvPr/>
        </p:nvSpPr>
        <p:spPr>
          <a:xfrm>
            <a:off x="8381848" y="4023360"/>
            <a:ext cx="2926080" cy="1188720"/>
          </a:xfrm>
          <a:prstGeom prst="rect">
            <a:avLst/>
          </a:prstGeom>
          <a:noFill/>
          <a:ln/>
        </p:spPr>
        <p:txBody>
          <a:bodyPr wrap="square" lIns="0" tIns="0" rIns="0" bIns="0" rtlCol="0" anchor="t"/>
          <a:lstStyle/>
          <a:p>
            <a:pPr algn="r" rtl="1"/>
            <a:r>
              <a:rPr lang="ar-SA" sz="1600" dirty="0">
                <a:solidFill>
                  <a:schemeClr val="bg1">
                    <a:lumMod val="85000"/>
                  </a:schemeClr>
                </a:solidFill>
              </a:rPr>
              <a:t>تحوّل المنهج إلى مهارات واضحة ومتسلسلة بدلًا من قائمة موضوعات جامدة.</a:t>
            </a:r>
            <a:endParaRPr lang="en-US" sz="1200" dirty="0">
              <a:solidFill>
                <a:schemeClr val="bg1">
                  <a:lumMod val="85000"/>
                </a:schemeClr>
              </a:solidFill>
            </a:endParaRPr>
          </a:p>
        </p:txBody>
      </p:sp>
      <p:sp>
        <p:nvSpPr>
          <p:cNvPr id="10" name="Shape 8"/>
          <p:cNvSpPr/>
          <p:nvPr/>
        </p:nvSpPr>
        <p:spPr>
          <a:xfrm>
            <a:off x="435848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1" name="Shape 9"/>
          <p:cNvSpPr/>
          <p:nvPr/>
        </p:nvSpPr>
        <p:spPr>
          <a:xfrm>
            <a:off x="7055968" y="2560320"/>
            <a:ext cx="502920" cy="502920"/>
          </a:xfrm>
          <a:prstGeom prst="ellipse">
            <a:avLst/>
          </a:prstGeom>
          <a:solidFill>
            <a:srgbClr val="00E5A0"/>
          </a:solidFill>
          <a:ln w="12700">
            <a:solidFill>
              <a:srgbClr val="00E5A0"/>
            </a:solidFill>
            <a:prstDash val="solid"/>
          </a:ln>
        </p:spPr>
        <p:txBody>
          <a:bodyPr/>
          <a:lstStyle/>
          <a:p>
            <a:endParaRPr lang="en-SA"/>
          </a:p>
        </p:txBody>
      </p:sp>
      <p:sp>
        <p:nvSpPr>
          <p:cNvPr id="12" name="Text 10"/>
          <p:cNvSpPr/>
          <p:nvPr/>
        </p:nvSpPr>
        <p:spPr>
          <a:xfrm>
            <a:off x="7055968" y="2560320"/>
            <a:ext cx="502920" cy="502920"/>
          </a:xfrm>
          <a:prstGeom prst="rect">
            <a:avLst/>
          </a:prstGeom>
          <a:noFill/>
          <a:ln/>
        </p:spPr>
        <p:txBody>
          <a:bodyPr wrap="square" lIns="0" tIns="0" rIns="0" bIns="0" rtlCol="0" anchor="ctr"/>
          <a:lstStyle/>
          <a:p>
            <a:pPr marL="0" indent="0" algn="ctr">
              <a:buNone/>
            </a:pPr>
            <a:r>
              <a:rPr lang="en-US" sz="1800" b="1" dirty="0">
                <a:solidFill>
                  <a:srgbClr val="0B1220"/>
                </a:solidFill>
                <a:latin typeface="IBM Plex Sans Arabic" pitchFamily="34" charset="0"/>
                <a:ea typeface="IBM Plex Sans Arabic" pitchFamily="34" charset="-122"/>
                <a:cs typeface="IBM Plex Sans Arabic" pitchFamily="34" charset="-120"/>
              </a:rPr>
              <a:t>2</a:t>
            </a:r>
            <a:endParaRPr lang="en-US" sz="1800" dirty="0"/>
          </a:p>
        </p:txBody>
      </p:sp>
      <p:sp>
        <p:nvSpPr>
          <p:cNvPr id="13" name="Text 11"/>
          <p:cNvSpPr/>
          <p:nvPr/>
        </p:nvSpPr>
        <p:spPr>
          <a:xfrm>
            <a:off x="4632808" y="3291840"/>
            <a:ext cx="2926080" cy="502920"/>
          </a:xfrm>
          <a:prstGeom prst="rect">
            <a:avLst/>
          </a:prstGeom>
          <a:noFill/>
          <a:ln/>
        </p:spPr>
        <p:txBody>
          <a:bodyPr wrap="square" lIns="0" tIns="0" rIns="0" bIns="0" rtlCol="0" anchor="ctr"/>
          <a:lstStyle/>
          <a:p>
            <a:pPr algn="r" rtl="1"/>
            <a:r>
              <a:rPr lang="ar-SA" sz="2000" b="1" dirty="0">
                <a:solidFill>
                  <a:schemeClr val="bg1">
                    <a:lumMod val="85000"/>
                  </a:schemeClr>
                </a:solidFill>
              </a:rPr>
              <a:t>تقييم قائم على الإتقان</a:t>
            </a:r>
            <a:endParaRPr lang="en-US" sz="2400" b="1" dirty="0">
              <a:solidFill>
                <a:schemeClr val="bg1">
                  <a:lumMod val="85000"/>
                </a:schemeClr>
              </a:solidFill>
            </a:endParaRPr>
          </a:p>
        </p:txBody>
      </p:sp>
      <p:sp>
        <p:nvSpPr>
          <p:cNvPr id="14" name="Shape 12"/>
          <p:cNvSpPr/>
          <p:nvPr/>
        </p:nvSpPr>
        <p:spPr>
          <a:xfrm>
            <a:off x="7101688" y="3867912"/>
            <a:ext cx="457200" cy="27432"/>
          </a:xfrm>
          <a:prstGeom prst="rect">
            <a:avLst/>
          </a:prstGeom>
          <a:solidFill>
            <a:srgbClr val="00E5A0"/>
          </a:solidFill>
          <a:ln w="12700">
            <a:solidFill>
              <a:srgbClr val="00E5A0"/>
            </a:solidFill>
            <a:prstDash val="solid"/>
          </a:ln>
        </p:spPr>
        <p:txBody>
          <a:bodyPr/>
          <a:lstStyle/>
          <a:p>
            <a:endParaRPr lang="en-SA"/>
          </a:p>
        </p:txBody>
      </p:sp>
      <p:sp>
        <p:nvSpPr>
          <p:cNvPr id="15" name="Text 13"/>
          <p:cNvSpPr/>
          <p:nvPr/>
        </p:nvSpPr>
        <p:spPr>
          <a:xfrm>
            <a:off x="4632808" y="4023360"/>
            <a:ext cx="2926080" cy="1188720"/>
          </a:xfrm>
          <a:prstGeom prst="rect">
            <a:avLst/>
          </a:prstGeom>
          <a:noFill/>
          <a:ln/>
        </p:spPr>
        <p:txBody>
          <a:bodyPr wrap="square" lIns="0" tIns="0" rIns="0" bIns="0" rtlCol="0" anchor="t"/>
          <a:lstStyle/>
          <a:p>
            <a:pPr algn="r" rtl="1"/>
            <a:r>
              <a:rPr lang="ar-SA" sz="1600" dirty="0">
                <a:solidFill>
                  <a:schemeClr val="bg1">
                    <a:lumMod val="85000"/>
                  </a:schemeClr>
                </a:solidFill>
              </a:rPr>
              <a:t>يقيس ما يستطيع الطالب فعله فعليًا، وليس فقط ما يعتقد أنه يفهمه.</a:t>
            </a:r>
            <a:br>
              <a:rPr lang="ar-SA" sz="1200" dirty="0">
                <a:solidFill>
                  <a:schemeClr val="bg1">
                    <a:lumMod val="85000"/>
                  </a:schemeClr>
                </a:solidFill>
              </a:rPr>
            </a:br>
            <a:endParaRPr lang="en-US" sz="1200" dirty="0">
              <a:solidFill>
                <a:schemeClr val="bg1">
                  <a:lumMod val="85000"/>
                </a:schemeClr>
              </a:solidFill>
            </a:endParaRPr>
          </a:p>
        </p:txBody>
      </p:sp>
      <p:sp>
        <p:nvSpPr>
          <p:cNvPr id="16" name="Shape 14"/>
          <p:cNvSpPr/>
          <p:nvPr/>
        </p:nvSpPr>
        <p:spPr>
          <a:xfrm>
            <a:off x="60944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7" name="Shape 15"/>
          <p:cNvSpPr/>
          <p:nvPr/>
        </p:nvSpPr>
        <p:spPr>
          <a:xfrm>
            <a:off x="3306928" y="2560320"/>
            <a:ext cx="502920" cy="502920"/>
          </a:xfrm>
          <a:prstGeom prst="ellipse">
            <a:avLst/>
          </a:prstGeom>
          <a:solidFill>
            <a:srgbClr val="00E5A0"/>
          </a:solidFill>
          <a:ln w="12700">
            <a:solidFill>
              <a:srgbClr val="00E5A0"/>
            </a:solidFill>
            <a:prstDash val="solid"/>
          </a:ln>
        </p:spPr>
        <p:txBody>
          <a:bodyPr/>
          <a:lstStyle/>
          <a:p>
            <a:endParaRPr lang="en-SA"/>
          </a:p>
        </p:txBody>
      </p:sp>
      <p:sp>
        <p:nvSpPr>
          <p:cNvPr id="18" name="Text 16"/>
          <p:cNvSpPr/>
          <p:nvPr/>
        </p:nvSpPr>
        <p:spPr>
          <a:xfrm>
            <a:off x="3306928" y="2560320"/>
            <a:ext cx="502920" cy="502920"/>
          </a:xfrm>
          <a:prstGeom prst="rect">
            <a:avLst/>
          </a:prstGeom>
          <a:noFill/>
          <a:ln/>
        </p:spPr>
        <p:txBody>
          <a:bodyPr wrap="square" lIns="0" tIns="0" rIns="0" bIns="0" rtlCol="0" anchor="ctr"/>
          <a:lstStyle/>
          <a:p>
            <a:pPr marL="0" indent="0" algn="ctr">
              <a:buNone/>
            </a:pPr>
            <a:r>
              <a:rPr lang="en-US" sz="1800" b="1" dirty="0">
                <a:solidFill>
                  <a:srgbClr val="0B1220"/>
                </a:solidFill>
                <a:latin typeface="IBM Plex Sans Arabic" pitchFamily="34" charset="0"/>
                <a:ea typeface="IBM Plex Sans Arabic" pitchFamily="34" charset="-122"/>
                <a:cs typeface="IBM Plex Sans Arabic" pitchFamily="34" charset="-120"/>
              </a:rPr>
              <a:t>3</a:t>
            </a:r>
            <a:endParaRPr lang="en-US" sz="1800" dirty="0"/>
          </a:p>
        </p:txBody>
      </p:sp>
      <p:sp>
        <p:nvSpPr>
          <p:cNvPr id="19" name="Text 17"/>
          <p:cNvSpPr/>
          <p:nvPr/>
        </p:nvSpPr>
        <p:spPr>
          <a:xfrm>
            <a:off x="883768" y="3291840"/>
            <a:ext cx="2926080" cy="502920"/>
          </a:xfrm>
          <a:prstGeom prst="rect">
            <a:avLst/>
          </a:prstGeom>
          <a:noFill/>
          <a:ln/>
        </p:spPr>
        <p:txBody>
          <a:bodyPr wrap="square" lIns="0" tIns="0" rIns="0" bIns="0" rtlCol="0" anchor="ctr"/>
          <a:lstStyle/>
          <a:p>
            <a:pPr algn="r" rtl="1"/>
            <a:r>
              <a:rPr lang="ar-SA" sz="2000" b="1" dirty="0">
                <a:solidFill>
                  <a:schemeClr val="bg1">
                    <a:lumMod val="85000"/>
                  </a:schemeClr>
                </a:solidFill>
              </a:rPr>
              <a:t>ألعاب تعليمية وتحديات ذكية</a:t>
            </a:r>
            <a:endParaRPr lang="en-US" sz="2400" b="1" dirty="0">
              <a:solidFill>
                <a:schemeClr val="bg1">
                  <a:lumMod val="85000"/>
                </a:schemeClr>
              </a:solidFill>
            </a:endParaRPr>
          </a:p>
        </p:txBody>
      </p:sp>
      <p:sp>
        <p:nvSpPr>
          <p:cNvPr id="20" name="Shape 18"/>
          <p:cNvSpPr/>
          <p:nvPr/>
        </p:nvSpPr>
        <p:spPr>
          <a:xfrm>
            <a:off x="3352648" y="3867912"/>
            <a:ext cx="457200" cy="27432"/>
          </a:xfrm>
          <a:prstGeom prst="rect">
            <a:avLst/>
          </a:prstGeom>
          <a:solidFill>
            <a:srgbClr val="00E5A0"/>
          </a:solidFill>
          <a:ln w="12700">
            <a:solidFill>
              <a:srgbClr val="00E5A0"/>
            </a:solidFill>
            <a:prstDash val="solid"/>
          </a:ln>
        </p:spPr>
        <p:txBody>
          <a:bodyPr/>
          <a:lstStyle/>
          <a:p>
            <a:endParaRPr lang="en-SA"/>
          </a:p>
        </p:txBody>
      </p:sp>
      <p:sp>
        <p:nvSpPr>
          <p:cNvPr id="21" name="Text 19"/>
          <p:cNvSpPr/>
          <p:nvPr/>
        </p:nvSpPr>
        <p:spPr>
          <a:xfrm>
            <a:off x="883768" y="4023360"/>
            <a:ext cx="2926080" cy="1188720"/>
          </a:xfrm>
          <a:prstGeom prst="rect">
            <a:avLst/>
          </a:prstGeom>
          <a:noFill/>
          <a:ln/>
        </p:spPr>
        <p:txBody>
          <a:bodyPr wrap="square" lIns="0" tIns="0" rIns="0" bIns="0" rtlCol="0" anchor="t"/>
          <a:lstStyle/>
          <a:p>
            <a:pPr algn="r"/>
            <a:r>
              <a:rPr lang="ar-SA" sz="1600" dirty="0">
                <a:solidFill>
                  <a:schemeClr val="bg1">
                    <a:lumMod val="85000"/>
                  </a:schemeClr>
                </a:solidFill>
              </a:rPr>
              <a:t>تعزز التعلم بطريقة ممتعة مع التركيز على أضعف المهارات.</a:t>
            </a:r>
          </a:p>
          <a:p>
            <a:br>
              <a:rPr lang="ar-SA" sz="1400" dirty="0"/>
            </a:br>
            <a:endParaRPr lang="en-US" sz="1400" dirty="0"/>
          </a:p>
        </p:txBody>
      </p:sp>
      <p:sp>
        <p:nvSpPr>
          <p:cNvPr id="22" name="Shape 20"/>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5" name="Image 2" descr="unpacked/ppt/media/image5.png"/>
          <p:cNvPicPr>
            <a:picLocks noChangeAspect="1"/>
          </p:cNvPicPr>
          <p:nvPr/>
        </p:nvPicPr>
        <p:blipFill>
          <a:blip r:embed="rId3"/>
          <a:stretch>
            <a:fillRect/>
          </a:stretch>
        </p:blipFill>
        <p:spPr>
          <a:xfrm>
            <a:off x="10702900" y="6392962"/>
            <a:ext cx="1210056" cy="329184"/>
          </a:xfrm>
          <a:prstGeom prst="rect">
            <a:avLst/>
          </a:prstGeom>
        </p:spPr>
      </p:pic>
      <p:pic>
        <p:nvPicPr>
          <p:cNvPr id="27" name="Image 1" descr="unpacked/ppt/media/image1.png">
            <a:extLst>
              <a:ext uri="{FF2B5EF4-FFF2-40B4-BE49-F238E27FC236}">
                <a16:creationId xmlns:a16="http://schemas.microsoft.com/office/drawing/2014/main" id="{A1F3EC60-A3D2-A4F9-11F3-A92147E672D4}"/>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8" name="Image 3" descr="unpacked/ppt/media/image3.png">
            <a:extLst>
              <a:ext uri="{FF2B5EF4-FFF2-40B4-BE49-F238E27FC236}">
                <a16:creationId xmlns:a16="http://schemas.microsoft.com/office/drawing/2014/main" id="{B5848B26-CC83-77D6-0D6E-5ABDFA14B412}"/>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9" name="Picture 28" descr="A logo of a letter&#10;&#10;AI-generated content may be incorrect.">
            <a:extLst>
              <a:ext uri="{FF2B5EF4-FFF2-40B4-BE49-F238E27FC236}">
                <a16:creationId xmlns:a16="http://schemas.microsoft.com/office/drawing/2014/main" id="{32969074-0266-5629-929D-4B8017FABDE3}"/>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آلية العمل</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457200" y="2240280"/>
            <a:ext cx="11277295" cy="1051560"/>
          </a:xfrm>
          <a:prstGeom prst="roundRect">
            <a:avLst>
              <a:gd name="adj" fmla="val 6957"/>
            </a:avLst>
          </a:prstGeom>
          <a:solidFill>
            <a:srgbClr val="121A2A"/>
          </a:solidFill>
          <a:ln w="12700">
            <a:solidFill>
              <a:srgbClr val="1E2A3F"/>
            </a:solidFill>
            <a:prstDash val="solid"/>
          </a:ln>
        </p:spPr>
        <p:txBody>
          <a:bodyPr/>
          <a:lstStyle/>
          <a:p>
            <a:endParaRPr lang="en-SA"/>
          </a:p>
        </p:txBody>
      </p:sp>
      <p:sp>
        <p:nvSpPr>
          <p:cNvPr id="5" name="Text 3"/>
          <p:cNvSpPr/>
          <p:nvPr/>
        </p:nvSpPr>
        <p:spPr>
          <a:xfrm>
            <a:off x="10454335" y="2240280"/>
            <a:ext cx="1005840" cy="1051560"/>
          </a:xfrm>
          <a:prstGeom prst="rect">
            <a:avLst/>
          </a:prstGeom>
          <a:noFill/>
          <a:ln/>
        </p:spPr>
        <p:txBody>
          <a:bodyPr wrap="square" lIns="0" tIns="0" rIns="0" bIns="0" rtlCol="0" anchor="ctr"/>
          <a:lstStyle/>
          <a:p>
            <a:pPr marL="0" indent="0" algn="ctr">
              <a:buNone/>
            </a:pPr>
            <a:r>
              <a:rPr lang="en-US" sz="3800" b="1" dirty="0">
                <a:solidFill>
                  <a:srgbClr val="00E5A0"/>
                </a:solidFill>
                <a:latin typeface="IBM Plex Sans Arabic" pitchFamily="34" charset="0"/>
                <a:ea typeface="IBM Plex Sans Arabic" pitchFamily="34" charset="-122"/>
                <a:cs typeface="IBM Plex Sans Arabic" pitchFamily="34" charset="-120"/>
              </a:rPr>
              <a:t>01</a:t>
            </a:r>
            <a:endParaRPr lang="en-US" sz="3800" dirty="0"/>
          </a:p>
        </p:txBody>
      </p:sp>
      <p:sp>
        <p:nvSpPr>
          <p:cNvPr id="6" name="Shape 4"/>
          <p:cNvSpPr/>
          <p:nvPr/>
        </p:nvSpPr>
        <p:spPr>
          <a:xfrm>
            <a:off x="10362895" y="2404872"/>
            <a:ext cx="0" cy="722376"/>
          </a:xfrm>
          <a:prstGeom prst="line">
            <a:avLst/>
          </a:prstGeom>
          <a:noFill/>
          <a:ln w="12700">
            <a:solidFill>
              <a:srgbClr val="1E2A3F"/>
            </a:solidFill>
            <a:prstDash val="solid"/>
          </a:ln>
        </p:spPr>
        <p:txBody>
          <a:bodyPr/>
          <a:lstStyle/>
          <a:p>
            <a:endParaRPr lang="en-SA"/>
          </a:p>
        </p:txBody>
      </p:sp>
      <p:sp>
        <p:nvSpPr>
          <p:cNvPr id="7" name="Text 5"/>
          <p:cNvSpPr/>
          <p:nvPr/>
        </p:nvSpPr>
        <p:spPr>
          <a:xfrm>
            <a:off x="731520" y="2350008"/>
            <a:ext cx="9585655" cy="457200"/>
          </a:xfrm>
          <a:prstGeom prst="rect">
            <a:avLst/>
          </a:prstGeom>
          <a:noFill/>
          <a:ln/>
        </p:spPr>
        <p:txBody>
          <a:bodyPr wrap="square" lIns="0" tIns="0" rIns="0" bIns="0" rtlCol="0" anchor="ctr"/>
          <a:lstStyle/>
          <a:p>
            <a:pPr algn="r" rtl="1"/>
            <a:r>
              <a:rPr lang="ar-SA" sz="2000" b="1" dirty="0">
                <a:solidFill>
                  <a:schemeClr val="bg1">
                    <a:lumMod val="85000"/>
                  </a:schemeClr>
                </a:solidFill>
              </a:rPr>
              <a:t>الخطوة 1: إدخال المادة</a:t>
            </a:r>
            <a:endParaRPr lang="en-US" sz="2000" b="1" dirty="0">
              <a:solidFill>
                <a:schemeClr val="bg1">
                  <a:lumMod val="85000"/>
                </a:schemeClr>
              </a:solidFill>
            </a:endParaRPr>
          </a:p>
        </p:txBody>
      </p:sp>
      <p:sp>
        <p:nvSpPr>
          <p:cNvPr id="8" name="Text 6"/>
          <p:cNvSpPr/>
          <p:nvPr/>
        </p:nvSpPr>
        <p:spPr>
          <a:xfrm>
            <a:off x="731520" y="2788920"/>
            <a:ext cx="9585655" cy="411480"/>
          </a:xfrm>
          <a:prstGeom prst="rect">
            <a:avLst/>
          </a:prstGeom>
          <a:noFill/>
          <a:ln/>
        </p:spPr>
        <p:txBody>
          <a:bodyPr wrap="square" lIns="0" tIns="0" rIns="0" bIns="0" rtlCol="0" anchor="t"/>
          <a:lstStyle/>
          <a:p>
            <a:pPr algn="r" rtl="1"/>
            <a:r>
              <a:rPr lang="ar-SA" sz="1600" dirty="0">
                <a:solidFill>
                  <a:schemeClr val="bg1">
                    <a:lumMod val="85000"/>
                  </a:schemeClr>
                </a:solidFill>
              </a:rPr>
              <a:t>يرفع الطالب ملف المادة أو الخطة الدراسية او يرسل عناوين رئيسية للمادة.</a:t>
            </a:r>
            <a:endParaRPr lang="en-US" sz="1200" dirty="0">
              <a:solidFill>
                <a:schemeClr val="bg1">
                  <a:lumMod val="85000"/>
                </a:schemeClr>
              </a:solidFill>
            </a:endParaRPr>
          </a:p>
        </p:txBody>
      </p:sp>
      <p:sp>
        <p:nvSpPr>
          <p:cNvPr id="9" name="Shape 7"/>
          <p:cNvSpPr/>
          <p:nvPr/>
        </p:nvSpPr>
        <p:spPr>
          <a:xfrm>
            <a:off x="457200" y="3456432"/>
            <a:ext cx="11277295" cy="1051560"/>
          </a:xfrm>
          <a:prstGeom prst="roundRect">
            <a:avLst>
              <a:gd name="adj" fmla="val 6957"/>
            </a:avLst>
          </a:prstGeom>
          <a:solidFill>
            <a:srgbClr val="121A2A"/>
          </a:solidFill>
          <a:ln w="12700">
            <a:solidFill>
              <a:srgbClr val="1E2A3F"/>
            </a:solidFill>
            <a:prstDash val="solid"/>
          </a:ln>
        </p:spPr>
        <p:txBody>
          <a:bodyPr/>
          <a:lstStyle/>
          <a:p>
            <a:endParaRPr lang="en-SA"/>
          </a:p>
        </p:txBody>
      </p:sp>
      <p:sp>
        <p:nvSpPr>
          <p:cNvPr id="10" name="Text 8"/>
          <p:cNvSpPr/>
          <p:nvPr/>
        </p:nvSpPr>
        <p:spPr>
          <a:xfrm>
            <a:off x="10454335" y="3456432"/>
            <a:ext cx="1005840" cy="1051560"/>
          </a:xfrm>
          <a:prstGeom prst="rect">
            <a:avLst/>
          </a:prstGeom>
          <a:noFill/>
          <a:ln/>
        </p:spPr>
        <p:txBody>
          <a:bodyPr wrap="square" lIns="0" tIns="0" rIns="0" bIns="0" rtlCol="0" anchor="ctr"/>
          <a:lstStyle/>
          <a:p>
            <a:pPr marL="0" indent="0" algn="ctr">
              <a:buNone/>
            </a:pPr>
            <a:r>
              <a:rPr lang="en-US" sz="3800" b="1" dirty="0">
                <a:solidFill>
                  <a:srgbClr val="00E5A0"/>
                </a:solidFill>
                <a:latin typeface="IBM Plex Sans Arabic" pitchFamily="34" charset="0"/>
                <a:ea typeface="IBM Plex Sans Arabic" pitchFamily="34" charset="-122"/>
                <a:cs typeface="IBM Plex Sans Arabic" pitchFamily="34" charset="-120"/>
              </a:rPr>
              <a:t>02</a:t>
            </a:r>
            <a:endParaRPr lang="en-US" sz="3800" dirty="0"/>
          </a:p>
        </p:txBody>
      </p:sp>
      <p:sp>
        <p:nvSpPr>
          <p:cNvPr id="11" name="Shape 9"/>
          <p:cNvSpPr/>
          <p:nvPr/>
        </p:nvSpPr>
        <p:spPr>
          <a:xfrm>
            <a:off x="10362895" y="3621024"/>
            <a:ext cx="0" cy="722376"/>
          </a:xfrm>
          <a:prstGeom prst="line">
            <a:avLst/>
          </a:prstGeom>
          <a:noFill/>
          <a:ln w="12700">
            <a:solidFill>
              <a:srgbClr val="1E2A3F"/>
            </a:solidFill>
            <a:prstDash val="solid"/>
          </a:ln>
        </p:spPr>
        <p:txBody>
          <a:bodyPr/>
          <a:lstStyle/>
          <a:p>
            <a:endParaRPr lang="en-SA"/>
          </a:p>
        </p:txBody>
      </p:sp>
      <p:sp>
        <p:nvSpPr>
          <p:cNvPr id="12" name="Text 10"/>
          <p:cNvSpPr/>
          <p:nvPr/>
        </p:nvSpPr>
        <p:spPr>
          <a:xfrm>
            <a:off x="731520" y="3566160"/>
            <a:ext cx="9585655" cy="457200"/>
          </a:xfrm>
          <a:prstGeom prst="rect">
            <a:avLst/>
          </a:prstGeom>
          <a:noFill/>
          <a:ln/>
        </p:spPr>
        <p:txBody>
          <a:bodyPr wrap="square" lIns="0" tIns="0" rIns="0" bIns="0" rtlCol="0" anchor="ctr"/>
          <a:lstStyle/>
          <a:p>
            <a:pPr algn="r" rtl="1"/>
            <a:r>
              <a:rPr lang="ar-SA" sz="2000" b="1" dirty="0">
                <a:solidFill>
                  <a:schemeClr val="bg1">
                    <a:lumMod val="85000"/>
                  </a:schemeClr>
                </a:solidFill>
              </a:rPr>
              <a:t>الخطوة 2: بناء شجرة المهارات</a:t>
            </a:r>
            <a:endParaRPr lang="en-US" sz="2000" b="1" dirty="0">
              <a:solidFill>
                <a:schemeClr val="bg1">
                  <a:lumMod val="85000"/>
                </a:schemeClr>
              </a:solidFill>
            </a:endParaRPr>
          </a:p>
        </p:txBody>
      </p:sp>
      <p:sp>
        <p:nvSpPr>
          <p:cNvPr id="13" name="Text 11"/>
          <p:cNvSpPr/>
          <p:nvPr/>
        </p:nvSpPr>
        <p:spPr>
          <a:xfrm>
            <a:off x="731520" y="4005072"/>
            <a:ext cx="9585655" cy="411480"/>
          </a:xfrm>
          <a:prstGeom prst="rect">
            <a:avLst/>
          </a:prstGeom>
          <a:noFill/>
          <a:ln/>
        </p:spPr>
        <p:txBody>
          <a:bodyPr wrap="square" lIns="0" tIns="0" rIns="0" bIns="0" rtlCol="0" anchor="t"/>
          <a:lstStyle/>
          <a:p>
            <a:pPr algn="r" rtl="1"/>
            <a:r>
              <a:rPr lang="ar-SA" dirty="0">
                <a:solidFill>
                  <a:schemeClr val="bg1">
                    <a:lumMod val="85000"/>
                  </a:schemeClr>
                </a:solidFill>
              </a:rPr>
              <a:t>يحلل الذكاء الاصطناعي المحتوى ويحدد المهارات والمتطلبات السابقة لكل مهارة.</a:t>
            </a:r>
            <a:endParaRPr lang="en-US" sz="1300" dirty="0">
              <a:solidFill>
                <a:schemeClr val="bg1">
                  <a:lumMod val="85000"/>
                </a:schemeClr>
              </a:solidFill>
            </a:endParaRPr>
          </a:p>
        </p:txBody>
      </p:sp>
      <p:sp>
        <p:nvSpPr>
          <p:cNvPr id="14" name="Shape 12"/>
          <p:cNvSpPr/>
          <p:nvPr/>
        </p:nvSpPr>
        <p:spPr>
          <a:xfrm>
            <a:off x="457200" y="4672584"/>
            <a:ext cx="11277295" cy="1051560"/>
          </a:xfrm>
          <a:prstGeom prst="roundRect">
            <a:avLst>
              <a:gd name="adj" fmla="val 6957"/>
            </a:avLst>
          </a:prstGeom>
          <a:solidFill>
            <a:srgbClr val="121A2A"/>
          </a:solidFill>
          <a:ln w="12700">
            <a:solidFill>
              <a:srgbClr val="1E2A3F"/>
            </a:solidFill>
            <a:prstDash val="solid"/>
          </a:ln>
        </p:spPr>
        <p:txBody>
          <a:bodyPr/>
          <a:lstStyle/>
          <a:p>
            <a:endParaRPr lang="en-SA"/>
          </a:p>
        </p:txBody>
      </p:sp>
      <p:sp>
        <p:nvSpPr>
          <p:cNvPr id="15" name="Text 13"/>
          <p:cNvSpPr/>
          <p:nvPr/>
        </p:nvSpPr>
        <p:spPr>
          <a:xfrm>
            <a:off x="10454335" y="4672584"/>
            <a:ext cx="1005840" cy="1051560"/>
          </a:xfrm>
          <a:prstGeom prst="rect">
            <a:avLst/>
          </a:prstGeom>
          <a:noFill/>
          <a:ln/>
        </p:spPr>
        <p:txBody>
          <a:bodyPr wrap="square" lIns="0" tIns="0" rIns="0" bIns="0" rtlCol="0" anchor="ctr"/>
          <a:lstStyle/>
          <a:p>
            <a:pPr marL="0" indent="0" algn="ctr">
              <a:buNone/>
            </a:pPr>
            <a:r>
              <a:rPr lang="en-US" sz="3800" b="1" dirty="0">
                <a:solidFill>
                  <a:srgbClr val="00E5A0"/>
                </a:solidFill>
                <a:latin typeface="IBM Plex Sans Arabic" pitchFamily="34" charset="0"/>
                <a:ea typeface="IBM Plex Sans Arabic" pitchFamily="34" charset="-122"/>
                <a:cs typeface="IBM Plex Sans Arabic" pitchFamily="34" charset="-120"/>
              </a:rPr>
              <a:t>03</a:t>
            </a:r>
            <a:endParaRPr lang="en-US" sz="3800" dirty="0"/>
          </a:p>
        </p:txBody>
      </p:sp>
      <p:sp>
        <p:nvSpPr>
          <p:cNvPr id="16" name="Shape 14"/>
          <p:cNvSpPr/>
          <p:nvPr/>
        </p:nvSpPr>
        <p:spPr>
          <a:xfrm>
            <a:off x="10362895" y="4837176"/>
            <a:ext cx="0" cy="722376"/>
          </a:xfrm>
          <a:prstGeom prst="line">
            <a:avLst/>
          </a:prstGeom>
          <a:noFill/>
          <a:ln w="12700">
            <a:solidFill>
              <a:srgbClr val="1E2A3F"/>
            </a:solidFill>
            <a:prstDash val="solid"/>
          </a:ln>
        </p:spPr>
        <p:txBody>
          <a:bodyPr/>
          <a:lstStyle/>
          <a:p>
            <a:endParaRPr lang="en-SA"/>
          </a:p>
        </p:txBody>
      </p:sp>
      <p:sp>
        <p:nvSpPr>
          <p:cNvPr id="17" name="Text 15"/>
          <p:cNvSpPr/>
          <p:nvPr/>
        </p:nvSpPr>
        <p:spPr>
          <a:xfrm>
            <a:off x="731520" y="4782312"/>
            <a:ext cx="9585655" cy="457200"/>
          </a:xfrm>
          <a:prstGeom prst="rect">
            <a:avLst/>
          </a:prstGeom>
          <a:noFill/>
          <a:ln/>
        </p:spPr>
        <p:txBody>
          <a:bodyPr wrap="square" lIns="0" tIns="0" rIns="0" bIns="0" rtlCol="0" anchor="ctr"/>
          <a:lstStyle/>
          <a:p>
            <a:pPr algn="r" rtl="1"/>
            <a:r>
              <a:rPr lang="ar-SA" sz="2000" b="1" dirty="0">
                <a:solidFill>
                  <a:schemeClr val="bg1">
                    <a:lumMod val="85000"/>
                  </a:schemeClr>
                </a:solidFill>
              </a:rPr>
              <a:t>الخطوة 3: التقييم والتطوير</a:t>
            </a:r>
            <a:endParaRPr lang="en-US" sz="2000" b="1" dirty="0">
              <a:solidFill>
                <a:schemeClr val="bg1">
                  <a:lumMod val="85000"/>
                </a:schemeClr>
              </a:solidFill>
            </a:endParaRPr>
          </a:p>
        </p:txBody>
      </p:sp>
      <p:sp>
        <p:nvSpPr>
          <p:cNvPr id="18" name="Text 16"/>
          <p:cNvSpPr/>
          <p:nvPr/>
        </p:nvSpPr>
        <p:spPr>
          <a:xfrm>
            <a:off x="731520" y="5221224"/>
            <a:ext cx="9585655" cy="411480"/>
          </a:xfrm>
          <a:prstGeom prst="rect">
            <a:avLst/>
          </a:prstGeom>
          <a:noFill/>
          <a:ln/>
        </p:spPr>
        <p:txBody>
          <a:bodyPr wrap="square" lIns="0" tIns="0" rIns="0" bIns="0" rtlCol="0" anchor="t"/>
          <a:lstStyle/>
          <a:p>
            <a:pPr algn="r" rtl="1"/>
            <a:r>
              <a:rPr lang="ar-SA" dirty="0">
                <a:solidFill>
                  <a:schemeClr val="bg1">
                    <a:lumMod val="85000"/>
                  </a:schemeClr>
                </a:solidFill>
              </a:rPr>
              <a:t>يخضع الطالب لأنشطة وألعاب تكيفية، ويتم تحديث مستوى الإتقان وجدولة المراجعة تلقائيًا.</a:t>
            </a:r>
            <a:endParaRPr lang="en-US" sz="1300" dirty="0">
              <a:solidFill>
                <a:schemeClr val="bg1">
                  <a:lumMod val="85000"/>
                </a:schemeClr>
              </a:solidFill>
            </a:endParaRPr>
          </a:p>
        </p:txBody>
      </p:sp>
      <p:sp>
        <p:nvSpPr>
          <p:cNvPr id="19" name="Shape 1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2" name="Image 2" descr="unpacked/ppt/media/image5.png"/>
          <p:cNvPicPr>
            <a:picLocks noChangeAspect="1"/>
          </p:cNvPicPr>
          <p:nvPr/>
        </p:nvPicPr>
        <p:blipFill>
          <a:blip r:embed="rId3"/>
          <a:stretch>
            <a:fillRect/>
          </a:stretch>
        </p:blipFill>
        <p:spPr>
          <a:xfrm>
            <a:off x="10668130" y="6392962"/>
            <a:ext cx="1210056" cy="329184"/>
          </a:xfrm>
          <a:prstGeom prst="rect">
            <a:avLst/>
          </a:prstGeom>
        </p:spPr>
      </p:pic>
      <p:pic>
        <p:nvPicPr>
          <p:cNvPr id="24" name="Image 1" descr="unpacked/ppt/media/image1.png">
            <a:extLst>
              <a:ext uri="{FF2B5EF4-FFF2-40B4-BE49-F238E27FC236}">
                <a16:creationId xmlns:a16="http://schemas.microsoft.com/office/drawing/2014/main" id="{45A983C2-AAC5-5AD7-6C22-B5DC28A5338A}"/>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5" name="Image 3" descr="unpacked/ppt/media/image3.png">
            <a:extLst>
              <a:ext uri="{FF2B5EF4-FFF2-40B4-BE49-F238E27FC236}">
                <a16:creationId xmlns:a16="http://schemas.microsoft.com/office/drawing/2014/main" id="{46B0424C-DEC6-FE37-CE1E-8E05DF228551}"/>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6" name="Picture 25" descr="A logo of a letter&#10;&#10;AI-generated content may be incorrect.">
            <a:extLst>
              <a:ext uri="{FF2B5EF4-FFF2-40B4-BE49-F238E27FC236}">
                <a16:creationId xmlns:a16="http://schemas.microsoft.com/office/drawing/2014/main" id="{87B9B741-DA25-D1B0-C27E-621EAAC5A37F}"/>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التقنيات المستخدمة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9044788" y="2331720"/>
            <a:ext cx="2606040" cy="3063240"/>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5" name="Shape 3"/>
          <p:cNvSpPr/>
          <p:nvPr/>
        </p:nvSpPr>
        <p:spPr>
          <a:xfrm>
            <a:off x="998204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6" name="Text 4"/>
          <p:cNvSpPr/>
          <p:nvPr/>
        </p:nvSpPr>
        <p:spPr>
          <a:xfrm>
            <a:off x="998204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01</a:t>
            </a:r>
            <a:endParaRPr lang="en-US" sz="1600" dirty="0"/>
          </a:p>
        </p:txBody>
      </p:sp>
      <p:sp>
        <p:nvSpPr>
          <p:cNvPr id="7" name="Text 5"/>
          <p:cNvSpPr/>
          <p:nvPr/>
        </p:nvSpPr>
        <p:spPr>
          <a:xfrm>
            <a:off x="9227668" y="3372830"/>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نموذج الذكاء الاصطناعي</a:t>
            </a:r>
            <a:endParaRPr lang="en-US" sz="1500" dirty="0"/>
          </a:p>
        </p:txBody>
      </p:sp>
      <p:sp>
        <p:nvSpPr>
          <p:cNvPr id="8" name="Shape 6"/>
          <p:cNvSpPr/>
          <p:nvPr/>
        </p:nvSpPr>
        <p:spPr>
          <a:xfrm>
            <a:off x="10073488" y="3985110"/>
            <a:ext cx="548640" cy="27432"/>
          </a:xfrm>
          <a:prstGeom prst="rect">
            <a:avLst/>
          </a:prstGeom>
          <a:solidFill>
            <a:srgbClr val="008C66"/>
          </a:solidFill>
          <a:ln w="12700">
            <a:solidFill>
              <a:srgbClr val="008C66"/>
            </a:solidFill>
            <a:prstDash val="solid"/>
          </a:ln>
        </p:spPr>
        <p:txBody>
          <a:bodyPr/>
          <a:lstStyle/>
          <a:p>
            <a:endParaRPr lang="en-SA"/>
          </a:p>
        </p:txBody>
      </p:sp>
      <p:sp>
        <p:nvSpPr>
          <p:cNvPr id="9" name="Text 7"/>
          <p:cNvSpPr/>
          <p:nvPr/>
        </p:nvSpPr>
        <p:spPr>
          <a:xfrm>
            <a:off x="9227668" y="4264370"/>
            <a:ext cx="2240280" cy="502920"/>
          </a:xfrm>
          <a:prstGeom prst="rect">
            <a:avLst/>
          </a:prstGeom>
          <a:noFill/>
          <a:ln/>
        </p:spPr>
        <p:txBody>
          <a:bodyPr wrap="square" lIns="0" tIns="0" rIns="0" bIns="0" rtlCol="0" anchor="ctr"/>
          <a:lstStyle/>
          <a:p>
            <a:pPr algn="ctr"/>
            <a:r>
              <a:rPr lang="en-US" sz="1400" dirty="0" err="1">
                <a:solidFill>
                  <a:schemeClr val="bg1">
                    <a:lumMod val="85000"/>
                  </a:schemeClr>
                </a:solidFill>
                <a:latin typeface="IBM Plex Sans Arabic" pitchFamily="34" charset="0"/>
                <a:ea typeface="IBM Plex Sans Arabic" pitchFamily="34" charset="-122"/>
                <a:cs typeface="IBM Plex Sans Arabic" pitchFamily="34" charset="-120"/>
              </a:rPr>
              <a:t>Groq</a:t>
            </a:r>
            <a:r>
              <a:rPr lang="en-US" sz="1400" dirty="0">
                <a:solidFill>
                  <a:schemeClr val="bg1">
                    <a:lumMod val="85000"/>
                  </a:schemeClr>
                </a:solidFill>
                <a:latin typeface="IBM Plex Sans Arabic" pitchFamily="34" charset="0"/>
                <a:ea typeface="IBM Plex Sans Arabic" pitchFamily="34" charset="-122"/>
                <a:cs typeface="IBM Plex Sans Arabic" pitchFamily="34" charset="-120"/>
              </a:rPr>
              <a:t> API, Llama 3.3 70B, Llama 3.1 8B</a:t>
            </a:r>
            <a:endParaRPr lang="en-US" sz="1400" dirty="0">
              <a:solidFill>
                <a:schemeClr val="bg1">
                  <a:lumMod val="85000"/>
                </a:schemeClr>
              </a:solidFill>
            </a:endParaRPr>
          </a:p>
        </p:txBody>
      </p:sp>
      <p:sp>
        <p:nvSpPr>
          <p:cNvPr id="10" name="Shape 8"/>
          <p:cNvSpPr/>
          <p:nvPr/>
        </p:nvSpPr>
        <p:spPr>
          <a:xfrm>
            <a:off x="6210148" y="2331720"/>
            <a:ext cx="2606040" cy="3063240"/>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11" name="Shape 9"/>
          <p:cNvSpPr/>
          <p:nvPr/>
        </p:nvSpPr>
        <p:spPr>
          <a:xfrm>
            <a:off x="714740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12" name="Text 10"/>
          <p:cNvSpPr/>
          <p:nvPr/>
        </p:nvSpPr>
        <p:spPr>
          <a:xfrm>
            <a:off x="714740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02</a:t>
            </a:r>
            <a:endParaRPr lang="en-US" sz="1600" dirty="0"/>
          </a:p>
        </p:txBody>
      </p:sp>
      <p:sp>
        <p:nvSpPr>
          <p:cNvPr id="13" name="Text 11"/>
          <p:cNvSpPr/>
          <p:nvPr/>
        </p:nvSpPr>
        <p:spPr>
          <a:xfrm>
            <a:off x="6393028" y="3314700"/>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إطار الوكلاء</a:t>
            </a:r>
            <a:endParaRPr lang="en-US" sz="1500" dirty="0"/>
          </a:p>
        </p:txBody>
      </p:sp>
      <p:sp>
        <p:nvSpPr>
          <p:cNvPr id="14" name="Shape 12"/>
          <p:cNvSpPr/>
          <p:nvPr/>
        </p:nvSpPr>
        <p:spPr>
          <a:xfrm>
            <a:off x="7238848" y="3849624"/>
            <a:ext cx="548640" cy="27432"/>
          </a:xfrm>
          <a:prstGeom prst="rect">
            <a:avLst/>
          </a:prstGeom>
          <a:solidFill>
            <a:srgbClr val="008C66"/>
          </a:solidFill>
          <a:ln w="12700">
            <a:solidFill>
              <a:srgbClr val="008C66"/>
            </a:solidFill>
            <a:prstDash val="solid"/>
          </a:ln>
        </p:spPr>
        <p:txBody>
          <a:bodyPr/>
          <a:lstStyle/>
          <a:p>
            <a:endParaRPr lang="en-SA"/>
          </a:p>
        </p:txBody>
      </p:sp>
      <p:sp>
        <p:nvSpPr>
          <p:cNvPr id="15" name="Text 13"/>
          <p:cNvSpPr/>
          <p:nvPr/>
        </p:nvSpPr>
        <p:spPr>
          <a:xfrm>
            <a:off x="6393028" y="4347972"/>
            <a:ext cx="2240280" cy="502920"/>
          </a:xfrm>
          <a:prstGeom prst="rect">
            <a:avLst/>
          </a:prstGeom>
          <a:noFill/>
          <a:ln/>
        </p:spPr>
        <p:txBody>
          <a:bodyPr wrap="square" lIns="0" tIns="0" rIns="0" bIns="0" rtlCol="0" anchor="ctr"/>
          <a:lstStyle/>
          <a:p>
            <a:pPr algn="ctr"/>
            <a:r>
              <a:rPr lang="en-US" sz="1600" dirty="0">
                <a:solidFill>
                  <a:schemeClr val="bg1">
                    <a:lumMod val="85000"/>
                  </a:schemeClr>
                </a:solidFill>
              </a:rPr>
              <a:t>Multi-Agent Architecture</a:t>
            </a:r>
            <a:br>
              <a:rPr lang="en-US" sz="1100" dirty="0">
                <a:solidFill>
                  <a:schemeClr val="bg1">
                    <a:lumMod val="85000"/>
                  </a:schemeClr>
                </a:solidFill>
              </a:rPr>
            </a:br>
            <a:r>
              <a:rPr lang="en-US" sz="1600" dirty="0" err="1">
                <a:solidFill>
                  <a:schemeClr val="bg1">
                    <a:lumMod val="85000"/>
                  </a:schemeClr>
                </a:solidFill>
              </a:rPr>
              <a:t>SkillTreeAgent</a:t>
            </a:r>
            <a:br>
              <a:rPr lang="en-US" sz="1100" dirty="0">
                <a:solidFill>
                  <a:schemeClr val="bg1">
                    <a:lumMod val="85000"/>
                  </a:schemeClr>
                </a:solidFill>
              </a:rPr>
            </a:br>
            <a:r>
              <a:rPr lang="en-US" sz="1600" dirty="0" err="1">
                <a:solidFill>
                  <a:schemeClr val="bg1">
                    <a:lumMod val="85000"/>
                  </a:schemeClr>
                </a:solidFill>
              </a:rPr>
              <a:t>EvaluationAgent</a:t>
            </a:r>
            <a:br>
              <a:rPr lang="en-US" sz="1100" dirty="0">
                <a:solidFill>
                  <a:schemeClr val="bg1">
                    <a:lumMod val="85000"/>
                  </a:schemeClr>
                </a:solidFill>
              </a:rPr>
            </a:br>
            <a:r>
              <a:rPr lang="en-US" sz="1600" dirty="0">
                <a:solidFill>
                  <a:schemeClr val="bg1">
                    <a:lumMod val="85000"/>
                  </a:schemeClr>
                </a:solidFill>
              </a:rPr>
              <a:t>AI Coach</a:t>
            </a:r>
            <a:endParaRPr lang="en-US" sz="1100" dirty="0">
              <a:solidFill>
                <a:schemeClr val="bg1">
                  <a:lumMod val="85000"/>
                </a:schemeClr>
              </a:solidFill>
            </a:endParaRPr>
          </a:p>
        </p:txBody>
      </p:sp>
      <p:sp>
        <p:nvSpPr>
          <p:cNvPr id="16" name="Shape 14"/>
          <p:cNvSpPr/>
          <p:nvPr/>
        </p:nvSpPr>
        <p:spPr>
          <a:xfrm>
            <a:off x="3375508" y="2331720"/>
            <a:ext cx="2606040" cy="3063239"/>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17" name="Shape 15"/>
          <p:cNvSpPr/>
          <p:nvPr/>
        </p:nvSpPr>
        <p:spPr>
          <a:xfrm>
            <a:off x="431276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18" name="Text 16"/>
          <p:cNvSpPr/>
          <p:nvPr/>
        </p:nvSpPr>
        <p:spPr>
          <a:xfrm>
            <a:off x="431276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03</a:t>
            </a:r>
            <a:endParaRPr lang="en-US" sz="1600" dirty="0"/>
          </a:p>
        </p:txBody>
      </p:sp>
      <p:sp>
        <p:nvSpPr>
          <p:cNvPr id="19" name="Text 17"/>
          <p:cNvSpPr/>
          <p:nvPr/>
        </p:nvSpPr>
        <p:spPr>
          <a:xfrm>
            <a:off x="3546958" y="3356878"/>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الواجهة الأمامية</a:t>
            </a:r>
            <a:endParaRPr lang="en-US" sz="1500" dirty="0"/>
          </a:p>
        </p:txBody>
      </p:sp>
      <p:sp>
        <p:nvSpPr>
          <p:cNvPr id="20" name="Shape 18"/>
          <p:cNvSpPr/>
          <p:nvPr/>
        </p:nvSpPr>
        <p:spPr>
          <a:xfrm>
            <a:off x="4397402" y="3886200"/>
            <a:ext cx="548640" cy="27432"/>
          </a:xfrm>
          <a:prstGeom prst="rect">
            <a:avLst/>
          </a:prstGeom>
          <a:solidFill>
            <a:srgbClr val="008C66"/>
          </a:solidFill>
          <a:ln w="12700">
            <a:solidFill>
              <a:srgbClr val="008C66"/>
            </a:solidFill>
            <a:prstDash val="solid"/>
          </a:ln>
        </p:spPr>
        <p:txBody>
          <a:bodyPr/>
          <a:lstStyle/>
          <a:p>
            <a:endParaRPr lang="en-SA"/>
          </a:p>
        </p:txBody>
      </p:sp>
      <p:sp>
        <p:nvSpPr>
          <p:cNvPr id="21" name="Text 19"/>
          <p:cNvSpPr/>
          <p:nvPr/>
        </p:nvSpPr>
        <p:spPr>
          <a:xfrm>
            <a:off x="3558388" y="4256532"/>
            <a:ext cx="2240280" cy="502920"/>
          </a:xfrm>
          <a:prstGeom prst="rect">
            <a:avLst/>
          </a:prstGeom>
          <a:noFill/>
          <a:ln/>
        </p:spPr>
        <p:txBody>
          <a:bodyPr wrap="square" lIns="0" tIns="0" rIns="0" bIns="0" rtlCol="0" anchor="ctr"/>
          <a:lstStyle/>
          <a:p>
            <a:pPr algn="ctr"/>
            <a:r>
              <a:rPr lang="en-US" dirty="0">
                <a:solidFill>
                  <a:schemeClr val="bg1">
                    <a:lumMod val="85000"/>
                  </a:schemeClr>
                </a:solidFill>
                <a:hlinkClick r:id="rId3" tooltip="https://nextjs.org/?utm_source=chatgpt.com">
                  <a:extLst>
                    <a:ext uri="{A12FA001-AC4F-418D-AE19-62706E023703}">
                      <ahyp:hlinkClr xmlns:ahyp="http://schemas.microsoft.com/office/drawing/2018/hyperlinkcolor" val="tx"/>
                    </a:ext>
                  </a:extLst>
                </a:hlinkClick>
              </a:rPr>
              <a:t>Next.js 14</a:t>
            </a:r>
            <a:br>
              <a:rPr lang="en-US" sz="1200" dirty="0">
                <a:solidFill>
                  <a:schemeClr val="bg1">
                    <a:lumMod val="85000"/>
                  </a:schemeClr>
                </a:solidFill>
              </a:rPr>
            </a:br>
            <a:r>
              <a:rPr lang="en-US" dirty="0">
                <a:solidFill>
                  <a:schemeClr val="bg1">
                    <a:lumMod val="85000"/>
                  </a:schemeClr>
                </a:solidFill>
                <a:hlinkClick r:id="rId4" tooltip="https://tailwindcss.com/?utm_source=chatgpt.com">
                  <a:extLst>
                    <a:ext uri="{A12FA001-AC4F-418D-AE19-62706E023703}">
                      <ahyp:hlinkClr xmlns:ahyp="http://schemas.microsoft.com/office/drawing/2018/hyperlinkcolor" val="tx"/>
                    </a:ext>
                  </a:extLst>
                </a:hlinkClick>
              </a:rPr>
              <a:t>Tailwind CSS</a:t>
            </a:r>
            <a:endParaRPr lang="en-US" sz="1200" dirty="0">
              <a:solidFill>
                <a:schemeClr val="bg1">
                  <a:lumMod val="85000"/>
                </a:schemeClr>
              </a:solidFill>
            </a:endParaRPr>
          </a:p>
        </p:txBody>
      </p:sp>
      <p:sp>
        <p:nvSpPr>
          <p:cNvPr id="22" name="Shape 20"/>
          <p:cNvSpPr/>
          <p:nvPr/>
        </p:nvSpPr>
        <p:spPr>
          <a:xfrm>
            <a:off x="540868" y="2331720"/>
            <a:ext cx="2606040" cy="3063240"/>
          </a:xfrm>
          <a:prstGeom prst="roundRect">
            <a:avLst>
              <a:gd name="adj" fmla="val 3509"/>
            </a:avLst>
          </a:prstGeom>
          <a:solidFill>
            <a:srgbClr val="121A2A"/>
          </a:solidFill>
          <a:ln w="12700">
            <a:solidFill>
              <a:srgbClr val="1E2A3F"/>
            </a:solidFill>
            <a:prstDash val="solid"/>
          </a:ln>
        </p:spPr>
        <p:txBody>
          <a:bodyPr/>
          <a:lstStyle/>
          <a:p>
            <a:endParaRPr lang="en-SA"/>
          </a:p>
        </p:txBody>
      </p:sp>
      <p:sp>
        <p:nvSpPr>
          <p:cNvPr id="23" name="Shape 21"/>
          <p:cNvSpPr/>
          <p:nvPr/>
        </p:nvSpPr>
        <p:spPr>
          <a:xfrm>
            <a:off x="1478128" y="2743200"/>
            <a:ext cx="731520" cy="731520"/>
          </a:xfrm>
          <a:prstGeom prst="ellipse">
            <a:avLst/>
          </a:prstGeom>
          <a:solidFill>
            <a:srgbClr val="0B1220"/>
          </a:solidFill>
          <a:ln w="19050">
            <a:solidFill>
              <a:srgbClr val="00E5A0"/>
            </a:solidFill>
            <a:prstDash val="solid"/>
          </a:ln>
        </p:spPr>
        <p:txBody>
          <a:bodyPr/>
          <a:lstStyle/>
          <a:p>
            <a:endParaRPr lang="en-SA"/>
          </a:p>
        </p:txBody>
      </p:sp>
      <p:sp>
        <p:nvSpPr>
          <p:cNvPr id="24" name="Text 22"/>
          <p:cNvSpPr/>
          <p:nvPr/>
        </p:nvSpPr>
        <p:spPr>
          <a:xfrm>
            <a:off x="1478128" y="2743200"/>
            <a:ext cx="731520" cy="731520"/>
          </a:xfrm>
          <a:prstGeom prst="rect">
            <a:avLst/>
          </a:prstGeom>
          <a:noFill/>
          <a:ln/>
        </p:spPr>
        <p:txBody>
          <a:bodyPr wrap="square" lIns="0" tIns="0" rIns="0" bIns="0" rtlCol="0" anchor="ctr"/>
          <a:lstStyle/>
          <a:p>
            <a:pPr marL="0" indent="0" algn="ctr">
              <a:buNone/>
            </a:pPr>
            <a:r>
              <a:rPr lang="en-US" sz="1600" b="1" dirty="0">
                <a:solidFill>
                  <a:srgbClr val="00E5A0"/>
                </a:solidFill>
                <a:latin typeface="IBM Plex Sans Arabic" pitchFamily="34" charset="0"/>
                <a:ea typeface="IBM Plex Sans Arabic" pitchFamily="34" charset="-122"/>
                <a:cs typeface="IBM Plex Sans Arabic" pitchFamily="34" charset="-120"/>
              </a:rPr>
              <a:t>04</a:t>
            </a:r>
            <a:endParaRPr lang="en-US" sz="1600" dirty="0"/>
          </a:p>
        </p:txBody>
      </p:sp>
      <p:sp>
        <p:nvSpPr>
          <p:cNvPr id="25" name="Text 23"/>
          <p:cNvSpPr/>
          <p:nvPr/>
        </p:nvSpPr>
        <p:spPr>
          <a:xfrm>
            <a:off x="710006" y="3350145"/>
            <a:ext cx="2240280" cy="777240"/>
          </a:xfrm>
          <a:prstGeom prst="rect">
            <a:avLst/>
          </a:prstGeom>
          <a:noFill/>
          <a:ln/>
        </p:spPr>
        <p:txBody>
          <a:bodyPr wrap="square" lIns="0" tIns="0" rIns="0" bIns="0" rtlCol="0" anchor="ctr"/>
          <a:lstStyle/>
          <a:p>
            <a:pPr marL="0" indent="0" algn="ctr" rtl="1">
              <a:buNone/>
            </a:pPr>
            <a:r>
              <a:rPr lang="en-US" sz="1500" b="1" dirty="0">
                <a:solidFill>
                  <a:srgbClr val="E6EDF7"/>
                </a:solidFill>
                <a:latin typeface="IBM Plex Sans Arabic" pitchFamily="34" charset="0"/>
                <a:ea typeface="IBM Plex Sans Arabic" pitchFamily="34" charset="-122"/>
                <a:cs typeface="IBM Plex Sans Arabic" pitchFamily="34" charset="-120"/>
              </a:rPr>
              <a:t>الخلفية والبنية</a:t>
            </a:r>
            <a:endParaRPr lang="en-US" sz="1500" dirty="0"/>
          </a:p>
        </p:txBody>
      </p:sp>
      <p:sp>
        <p:nvSpPr>
          <p:cNvPr id="26" name="Shape 24"/>
          <p:cNvSpPr/>
          <p:nvPr/>
        </p:nvSpPr>
        <p:spPr>
          <a:xfrm>
            <a:off x="1569568" y="3888711"/>
            <a:ext cx="548640" cy="27432"/>
          </a:xfrm>
          <a:prstGeom prst="rect">
            <a:avLst/>
          </a:prstGeom>
          <a:solidFill>
            <a:srgbClr val="008C66"/>
          </a:solidFill>
          <a:ln w="12700">
            <a:solidFill>
              <a:srgbClr val="008C66"/>
            </a:solidFill>
            <a:prstDash val="solid"/>
          </a:ln>
        </p:spPr>
        <p:txBody>
          <a:bodyPr/>
          <a:lstStyle/>
          <a:p>
            <a:endParaRPr lang="en-SA"/>
          </a:p>
        </p:txBody>
      </p:sp>
      <p:sp>
        <p:nvSpPr>
          <p:cNvPr id="27" name="Text 25"/>
          <p:cNvSpPr/>
          <p:nvPr/>
        </p:nvSpPr>
        <p:spPr>
          <a:xfrm>
            <a:off x="710006" y="4310265"/>
            <a:ext cx="2240280" cy="502920"/>
          </a:xfrm>
          <a:prstGeom prst="rect">
            <a:avLst/>
          </a:prstGeom>
          <a:noFill/>
          <a:ln/>
        </p:spPr>
        <p:txBody>
          <a:bodyPr wrap="square" lIns="0" tIns="0" rIns="0" bIns="0" rtlCol="0" anchor="ctr"/>
          <a:lstStyle/>
          <a:p>
            <a:pPr algn="ctr"/>
            <a:r>
              <a:rPr lang="en-US" dirty="0">
                <a:solidFill>
                  <a:schemeClr val="bg1">
                    <a:lumMod val="85000"/>
                  </a:schemeClr>
                </a:solidFill>
                <a:hlinkClick r:id="rId5" tooltip="https://www.postgresql.org/?utm_source=chatgpt.com">
                  <a:extLst>
                    <a:ext uri="{A12FA001-AC4F-418D-AE19-62706E023703}">
                      <ahyp:hlinkClr xmlns:ahyp="http://schemas.microsoft.com/office/drawing/2018/hyperlinkcolor" val="tx"/>
                    </a:ext>
                  </a:extLst>
                </a:hlinkClick>
              </a:rPr>
              <a:t>PostgreSQL</a:t>
            </a:r>
            <a:br>
              <a:rPr lang="en-US" sz="1200" dirty="0">
                <a:solidFill>
                  <a:schemeClr val="bg1">
                    <a:lumMod val="85000"/>
                  </a:schemeClr>
                </a:solidFill>
              </a:rPr>
            </a:br>
            <a:r>
              <a:rPr lang="en-US" dirty="0">
                <a:solidFill>
                  <a:schemeClr val="bg1">
                    <a:lumMod val="85000"/>
                  </a:schemeClr>
                </a:solidFill>
                <a:hlinkClick r:id="rId6" tooltip="https://www.prisma.io/?utm_source=chatgpt.com">
                  <a:extLst>
                    <a:ext uri="{A12FA001-AC4F-418D-AE19-62706E023703}">
                      <ahyp:hlinkClr xmlns:ahyp="http://schemas.microsoft.com/office/drawing/2018/hyperlinkcolor" val="tx"/>
                    </a:ext>
                  </a:extLst>
                </a:hlinkClick>
              </a:rPr>
              <a:t>Prisma ORM</a:t>
            </a:r>
            <a:br>
              <a:rPr lang="en-US" sz="1200" dirty="0">
                <a:solidFill>
                  <a:schemeClr val="bg1">
                    <a:lumMod val="85000"/>
                  </a:schemeClr>
                </a:solidFill>
              </a:rPr>
            </a:br>
            <a:r>
              <a:rPr lang="en-US" dirty="0">
                <a:solidFill>
                  <a:schemeClr val="bg1">
                    <a:lumMod val="85000"/>
                  </a:schemeClr>
                </a:solidFill>
                <a:hlinkClick r:id="rId7" tooltip="https://railway.com/?utm_source=chatgpt.com">
                  <a:extLst>
                    <a:ext uri="{A12FA001-AC4F-418D-AE19-62706E023703}">
                      <ahyp:hlinkClr xmlns:ahyp="http://schemas.microsoft.com/office/drawing/2018/hyperlinkcolor" val="tx"/>
                    </a:ext>
                  </a:extLst>
                </a:hlinkClick>
              </a:rPr>
              <a:t>Railway</a:t>
            </a:r>
            <a:endParaRPr lang="en-US" sz="1200" dirty="0">
              <a:solidFill>
                <a:schemeClr val="bg1">
                  <a:lumMod val="85000"/>
                </a:schemeClr>
              </a:solidFill>
            </a:endParaRPr>
          </a:p>
        </p:txBody>
      </p:sp>
      <p:sp>
        <p:nvSpPr>
          <p:cNvPr id="28" name="Shape 26"/>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31" name="Image 2" descr="unpacked/ppt/media/image5.png"/>
          <p:cNvPicPr>
            <a:picLocks noChangeAspect="1"/>
          </p:cNvPicPr>
          <p:nvPr/>
        </p:nvPicPr>
        <p:blipFill>
          <a:blip r:embed="rId8"/>
          <a:stretch>
            <a:fillRect/>
          </a:stretch>
        </p:blipFill>
        <p:spPr>
          <a:xfrm>
            <a:off x="10668130" y="6392962"/>
            <a:ext cx="1210056" cy="329184"/>
          </a:xfrm>
          <a:prstGeom prst="rect">
            <a:avLst/>
          </a:prstGeom>
        </p:spPr>
      </p:pic>
      <p:pic>
        <p:nvPicPr>
          <p:cNvPr id="33" name="Image 1" descr="unpacked/ppt/media/image1.png">
            <a:extLst>
              <a:ext uri="{FF2B5EF4-FFF2-40B4-BE49-F238E27FC236}">
                <a16:creationId xmlns:a16="http://schemas.microsoft.com/office/drawing/2014/main" id="{6BD0B3E2-7FF5-4CBB-8634-2A51F660451C}"/>
              </a:ext>
            </a:extLst>
          </p:cNvPr>
          <p:cNvPicPr>
            <a:picLocks noChangeAspect="1"/>
          </p:cNvPicPr>
          <p:nvPr/>
        </p:nvPicPr>
        <p:blipFill>
          <a:blip r:embed="rId9"/>
          <a:stretch>
            <a:fillRect/>
          </a:stretch>
        </p:blipFill>
        <p:spPr>
          <a:xfrm>
            <a:off x="1366307" y="300446"/>
            <a:ext cx="1639948" cy="593054"/>
          </a:xfrm>
          <a:prstGeom prst="rect">
            <a:avLst/>
          </a:prstGeom>
        </p:spPr>
      </p:pic>
      <p:pic>
        <p:nvPicPr>
          <p:cNvPr id="34" name="Image 3" descr="unpacked/ppt/media/image3.png">
            <a:extLst>
              <a:ext uri="{FF2B5EF4-FFF2-40B4-BE49-F238E27FC236}">
                <a16:creationId xmlns:a16="http://schemas.microsoft.com/office/drawing/2014/main" id="{9D351B85-C533-53D5-D9A8-C8E54FE0633B}"/>
              </a:ext>
            </a:extLst>
          </p:cNvPr>
          <p:cNvPicPr>
            <a:picLocks noChangeAspect="1"/>
          </p:cNvPicPr>
          <p:nvPr/>
        </p:nvPicPr>
        <p:blipFill>
          <a:blip r:embed="rId10"/>
          <a:stretch>
            <a:fillRect/>
          </a:stretch>
        </p:blipFill>
        <p:spPr>
          <a:xfrm>
            <a:off x="10365661" y="300446"/>
            <a:ext cx="1512525" cy="694944"/>
          </a:xfrm>
          <a:prstGeom prst="rect">
            <a:avLst/>
          </a:prstGeom>
        </p:spPr>
      </p:pic>
      <p:pic>
        <p:nvPicPr>
          <p:cNvPr id="35" name="Picture 34" descr="A logo of a letter&#10;&#10;AI-generated content may be incorrect.">
            <a:extLst>
              <a:ext uri="{FF2B5EF4-FFF2-40B4-BE49-F238E27FC236}">
                <a16:creationId xmlns:a16="http://schemas.microsoft.com/office/drawing/2014/main" id="{B19DB61A-854F-AE6C-CA68-171F9DAF9DD1}"/>
              </a:ext>
            </a:extLst>
          </p:cNvPr>
          <p:cNvPicPr>
            <a:picLocks noChangeAspect="1"/>
          </p:cNvPicPr>
          <p:nvPr/>
        </p:nvPicPr>
        <p:blipFill>
          <a:blip r:embed="rId11"/>
          <a:stretch>
            <a:fillRect/>
          </a:stretch>
        </p:blipFill>
        <p:spPr>
          <a:xfrm>
            <a:off x="488110" y="357922"/>
            <a:ext cx="465038" cy="4650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Text 0"/>
          <p:cNvSpPr/>
          <p:nvPr/>
        </p:nvSpPr>
        <p:spPr>
          <a:xfrm>
            <a:off x="457200" y="1097280"/>
            <a:ext cx="11277295" cy="640080"/>
          </a:xfrm>
          <a:prstGeom prst="rect">
            <a:avLst/>
          </a:prstGeom>
          <a:noFill/>
          <a:ln/>
        </p:spPr>
        <p:txBody>
          <a:bodyPr wrap="square" lIns="0" tIns="0" rIns="0" bIns="0" rtlCol="0" anchor="ctr"/>
          <a:lstStyle/>
          <a:p>
            <a:pPr marL="0" indent="0" algn="r" rtl="1">
              <a:buNone/>
            </a:pPr>
            <a:r>
              <a:rPr lang="en-US" sz="3000" b="1" dirty="0">
                <a:solidFill>
                  <a:srgbClr val="E6EDF7"/>
                </a:solidFill>
                <a:latin typeface="IBM Plex Sans Arabic" pitchFamily="34" charset="0"/>
                <a:ea typeface="IBM Plex Sans Arabic" pitchFamily="34" charset="-122"/>
                <a:cs typeface="IBM Plex Sans Arabic" pitchFamily="34" charset="-120"/>
              </a:rPr>
              <a:t>التأثير والقيمة</a:t>
            </a:r>
            <a:endParaRPr lang="en-US" sz="3000" dirty="0"/>
          </a:p>
        </p:txBody>
      </p:sp>
      <p:sp>
        <p:nvSpPr>
          <p:cNvPr id="3" name="Shape 1"/>
          <p:cNvSpPr/>
          <p:nvPr/>
        </p:nvSpPr>
        <p:spPr>
          <a:xfrm>
            <a:off x="10728655" y="1783080"/>
            <a:ext cx="1005840" cy="36576"/>
          </a:xfrm>
          <a:prstGeom prst="rect">
            <a:avLst/>
          </a:prstGeom>
          <a:solidFill>
            <a:srgbClr val="00E5A0"/>
          </a:solidFill>
          <a:ln w="12700">
            <a:solidFill>
              <a:srgbClr val="00E5A0"/>
            </a:solidFill>
            <a:prstDash val="solid"/>
          </a:ln>
        </p:spPr>
        <p:txBody>
          <a:bodyPr/>
          <a:lstStyle/>
          <a:p>
            <a:endParaRPr lang="en-SA"/>
          </a:p>
        </p:txBody>
      </p:sp>
      <p:sp>
        <p:nvSpPr>
          <p:cNvPr id="4" name="Shape 2"/>
          <p:cNvSpPr/>
          <p:nvPr/>
        </p:nvSpPr>
        <p:spPr>
          <a:xfrm>
            <a:off x="810752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5" name="Text 3"/>
          <p:cNvSpPr/>
          <p:nvPr/>
        </p:nvSpPr>
        <p:spPr>
          <a:xfrm>
            <a:off x="8290408" y="2560320"/>
            <a:ext cx="3108960" cy="1188720"/>
          </a:xfrm>
          <a:prstGeom prst="rect">
            <a:avLst/>
          </a:prstGeom>
          <a:noFill/>
          <a:ln/>
        </p:spPr>
        <p:txBody>
          <a:bodyPr wrap="square" lIns="0" tIns="0" rIns="0" bIns="0" rtlCol="0" anchor="ctr"/>
          <a:lstStyle/>
          <a:p>
            <a:pPr marL="0" indent="0" algn="ctr">
              <a:buNone/>
            </a:pPr>
            <a:r>
              <a:rPr lang="en-US" sz="6400" b="1" dirty="0">
                <a:solidFill>
                  <a:srgbClr val="00E5A0"/>
                </a:solidFill>
                <a:latin typeface="IBM Plex Sans Arabic" pitchFamily="34" charset="0"/>
                <a:ea typeface="IBM Plex Sans Arabic" pitchFamily="34" charset="-122"/>
                <a:cs typeface="IBM Plex Sans Arabic" pitchFamily="34" charset="-120"/>
              </a:rPr>
              <a:t>01</a:t>
            </a:r>
            <a:endParaRPr lang="en-US" sz="6400" dirty="0"/>
          </a:p>
        </p:txBody>
      </p:sp>
      <p:sp>
        <p:nvSpPr>
          <p:cNvPr id="6" name="Text 4"/>
          <p:cNvSpPr/>
          <p:nvPr/>
        </p:nvSpPr>
        <p:spPr>
          <a:xfrm>
            <a:off x="8290408" y="3840480"/>
            <a:ext cx="3108960" cy="502920"/>
          </a:xfrm>
          <a:prstGeom prst="rect">
            <a:avLst/>
          </a:prstGeom>
          <a:noFill/>
          <a:ln/>
        </p:spPr>
        <p:txBody>
          <a:bodyPr wrap="square" lIns="0" tIns="0" rIns="0" bIns="0" rtlCol="0" anchor="ctr"/>
          <a:lstStyle/>
          <a:p>
            <a:pPr algn="ctr" rtl="1"/>
            <a:r>
              <a:rPr lang="ar-SA" sz="2000" b="1" dirty="0">
                <a:solidFill>
                  <a:schemeClr val="bg1">
                    <a:lumMod val="85000"/>
                  </a:schemeClr>
                </a:solidFill>
              </a:rPr>
              <a:t>تعلم أعمق</a:t>
            </a:r>
            <a:endParaRPr lang="en-US" b="1" dirty="0">
              <a:solidFill>
                <a:schemeClr val="bg1">
                  <a:lumMod val="85000"/>
                </a:schemeClr>
              </a:solidFill>
            </a:endParaRPr>
          </a:p>
        </p:txBody>
      </p:sp>
      <p:sp>
        <p:nvSpPr>
          <p:cNvPr id="7" name="Shape 5"/>
          <p:cNvSpPr/>
          <p:nvPr/>
        </p:nvSpPr>
        <p:spPr>
          <a:xfrm>
            <a:off x="9570568" y="4434840"/>
            <a:ext cx="548640" cy="27432"/>
          </a:xfrm>
          <a:prstGeom prst="rect">
            <a:avLst/>
          </a:prstGeom>
          <a:solidFill>
            <a:srgbClr val="008C66"/>
          </a:solidFill>
          <a:ln w="12700">
            <a:solidFill>
              <a:srgbClr val="008C66"/>
            </a:solidFill>
            <a:prstDash val="solid"/>
          </a:ln>
        </p:spPr>
        <p:txBody>
          <a:bodyPr/>
          <a:lstStyle/>
          <a:p>
            <a:endParaRPr lang="en-SA"/>
          </a:p>
        </p:txBody>
      </p:sp>
      <p:sp>
        <p:nvSpPr>
          <p:cNvPr id="8" name="Text 6"/>
          <p:cNvSpPr/>
          <p:nvPr/>
        </p:nvSpPr>
        <p:spPr>
          <a:xfrm>
            <a:off x="8381848" y="4572000"/>
            <a:ext cx="2926080" cy="685800"/>
          </a:xfrm>
          <a:prstGeom prst="rect">
            <a:avLst/>
          </a:prstGeom>
          <a:noFill/>
          <a:ln/>
        </p:spPr>
        <p:txBody>
          <a:bodyPr wrap="square" lIns="0" tIns="0" rIns="0" bIns="0" rtlCol="0" anchor="t"/>
          <a:lstStyle/>
          <a:p>
            <a:pPr algn="ctr" rtl="1"/>
            <a:r>
              <a:rPr lang="ar-SA" dirty="0">
                <a:solidFill>
                  <a:schemeClr val="bg1">
                    <a:lumMod val="85000"/>
                  </a:schemeClr>
                </a:solidFill>
              </a:rPr>
              <a:t>ينتقل الطالب من الحفظ المؤقت إلى الفهم الحقيقي للمادة.</a:t>
            </a:r>
            <a:br>
              <a:rPr lang="ar-SA" sz="1400" dirty="0">
                <a:solidFill>
                  <a:schemeClr val="bg1">
                    <a:lumMod val="85000"/>
                  </a:schemeClr>
                </a:solidFill>
              </a:rPr>
            </a:br>
            <a:endParaRPr lang="en-US" sz="1300" dirty="0">
              <a:solidFill>
                <a:schemeClr val="bg1">
                  <a:lumMod val="85000"/>
                </a:schemeClr>
              </a:solidFill>
            </a:endParaRPr>
          </a:p>
        </p:txBody>
      </p:sp>
      <p:sp>
        <p:nvSpPr>
          <p:cNvPr id="9" name="Shape 7"/>
          <p:cNvSpPr/>
          <p:nvPr/>
        </p:nvSpPr>
        <p:spPr>
          <a:xfrm>
            <a:off x="435848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0" name="Text 8"/>
          <p:cNvSpPr/>
          <p:nvPr/>
        </p:nvSpPr>
        <p:spPr>
          <a:xfrm>
            <a:off x="4541368" y="2560320"/>
            <a:ext cx="3108960" cy="1188720"/>
          </a:xfrm>
          <a:prstGeom prst="rect">
            <a:avLst/>
          </a:prstGeom>
          <a:noFill/>
          <a:ln/>
        </p:spPr>
        <p:txBody>
          <a:bodyPr wrap="square" lIns="0" tIns="0" rIns="0" bIns="0" rtlCol="0" anchor="ctr"/>
          <a:lstStyle/>
          <a:p>
            <a:pPr marL="0" indent="0" algn="ctr">
              <a:buNone/>
            </a:pPr>
            <a:r>
              <a:rPr lang="en-US" sz="6400" b="1" dirty="0">
                <a:solidFill>
                  <a:srgbClr val="00E5A0"/>
                </a:solidFill>
                <a:latin typeface="IBM Plex Sans Arabic" pitchFamily="34" charset="0"/>
                <a:ea typeface="IBM Plex Sans Arabic" pitchFamily="34" charset="-122"/>
                <a:cs typeface="IBM Plex Sans Arabic" pitchFamily="34" charset="-120"/>
              </a:rPr>
              <a:t>02</a:t>
            </a:r>
            <a:endParaRPr lang="en-US" sz="6400" dirty="0"/>
          </a:p>
        </p:txBody>
      </p:sp>
      <p:sp>
        <p:nvSpPr>
          <p:cNvPr id="11" name="Text 9"/>
          <p:cNvSpPr/>
          <p:nvPr/>
        </p:nvSpPr>
        <p:spPr>
          <a:xfrm>
            <a:off x="4541368" y="3840480"/>
            <a:ext cx="3108960" cy="502920"/>
          </a:xfrm>
          <a:prstGeom prst="rect">
            <a:avLst/>
          </a:prstGeom>
          <a:noFill/>
          <a:ln/>
        </p:spPr>
        <p:txBody>
          <a:bodyPr wrap="square" lIns="0" tIns="0" rIns="0" bIns="0" rtlCol="0" anchor="ctr"/>
          <a:lstStyle/>
          <a:p>
            <a:pPr algn="ctr" rtl="1"/>
            <a:r>
              <a:rPr lang="ar-SA" sz="2000" b="1" dirty="0">
                <a:solidFill>
                  <a:schemeClr val="bg1">
                    <a:lumMod val="85000"/>
                  </a:schemeClr>
                </a:solidFill>
              </a:rPr>
              <a:t>احتفاظ أطول بالمعلومات</a:t>
            </a:r>
            <a:br>
              <a:rPr lang="ar-SA" b="1" dirty="0">
                <a:solidFill>
                  <a:schemeClr val="bg1">
                    <a:lumMod val="85000"/>
                  </a:schemeClr>
                </a:solidFill>
              </a:rPr>
            </a:br>
            <a:endParaRPr lang="en-US" b="1" dirty="0">
              <a:solidFill>
                <a:schemeClr val="bg1">
                  <a:lumMod val="85000"/>
                </a:schemeClr>
              </a:solidFill>
            </a:endParaRPr>
          </a:p>
        </p:txBody>
      </p:sp>
      <p:sp>
        <p:nvSpPr>
          <p:cNvPr id="12" name="Shape 10"/>
          <p:cNvSpPr/>
          <p:nvPr/>
        </p:nvSpPr>
        <p:spPr>
          <a:xfrm>
            <a:off x="5821528" y="4434840"/>
            <a:ext cx="548640" cy="27432"/>
          </a:xfrm>
          <a:prstGeom prst="rect">
            <a:avLst/>
          </a:prstGeom>
          <a:solidFill>
            <a:srgbClr val="008C66"/>
          </a:solidFill>
          <a:ln w="12700">
            <a:solidFill>
              <a:srgbClr val="008C66"/>
            </a:solidFill>
            <a:prstDash val="solid"/>
          </a:ln>
        </p:spPr>
        <p:txBody>
          <a:bodyPr/>
          <a:lstStyle/>
          <a:p>
            <a:endParaRPr lang="en-SA"/>
          </a:p>
        </p:txBody>
      </p:sp>
      <p:sp>
        <p:nvSpPr>
          <p:cNvPr id="13" name="Text 11"/>
          <p:cNvSpPr/>
          <p:nvPr/>
        </p:nvSpPr>
        <p:spPr>
          <a:xfrm>
            <a:off x="4632808" y="4572000"/>
            <a:ext cx="2926080" cy="685800"/>
          </a:xfrm>
          <a:prstGeom prst="rect">
            <a:avLst/>
          </a:prstGeom>
          <a:noFill/>
          <a:ln/>
        </p:spPr>
        <p:txBody>
          <a:bodyPr wrap="square" lIns="0" tIns="0" rIns="0" bIns="0" rtlCol="0" anchor="t"/>
          <a:lstStyle/>
          <a:p>
            <a:pPr algn="ctr" rtl="1"/>
            <a:r>
              <a:rPr lang="ar-SA" dirty="0">
                <a:solidFill>
                  <a:schemeClr val="bg1">
                    <a:lumMod val="85000"/>
                  </a:schemeClr>
                </a:solidFill>
              </a:rPr>
              <a:t>استخدام الاسترجاع النشط والتكرار المتباعد يساعد على تثبيت المعرفة.</a:t>
            </a:r>
            <a:endParaRPr lang="en-US" sz="1300" dirty="0">
              <a:solidFill>
                <a:schemeClr val="bg1">
                  <a:lumMod val="85000"/>
                </a:schemeClr>
              </a:solidFill>
            </a:endParaRPr>
          </a:p>
        </p:txBody>
      </p:sp>
      <p:sp>
        <p:nvSpPr>
          <p:cNvPr id="14" name="Shape 12"/>
          <p:cNvSpPr/>
          <p:nvPr/>
        </p:nvSpPr>
        <p:spPr>
          <a:xfrm>
            <a:off x="609448" y="2240280"/>
            <a:ext cx="3474720" cy="3200400"/>
          </a:xfrm>
          <a:prstGeom prst="roundRect">
            <a:avLst>
              <a:gd name="adj" fmla="val 2857"/>
            </a:avLst>
          </a:prstGeom>
          <a:solidFill>
            <a:srgbClr val="121A2A"/>
          </a:solidFill>
          <a:ln w="12700">
            <a:solidFill>
              <a:srgbClr val="1E2A3F"/>
            </a:solidFill>
            <a:prstDash val="solid"/>
          </a:ln>
        </p:spPr>
        <p:txBody>
          <a:bodyPr/>
          <a:lstStyle/>
          <a:p>
            <a:endParaRPr lang="en-SA"/>
          </a:p>
        </p:txBody>
      </p:sp>
      <p:sp>
        <p:nvSpPr>
          <p:cNvPr id="15" name="Text 13"/>
          <p:cNvSpPr/>
          <p:nvPr/>
        </p:nvSpPr>
        <p:spPr>
          <a:xfrm>
            <a:off x="792328" y="2560320"/>
            <a:ext cx="3108960" cy="1188720"/>
          </a:xfrm>
          <a:prstGeom prst="rect">
            <a:avLst/>
          </a:prstGeom>
          <a:noFill/>
          <a:ln/>
        </p:spPr>
        <p:txBody>
          <a:bodyPr wrap="square" lIns="0" tIns="0" rIns="0" bIns="0" rtlCol="0" anchor="ctr"/>
          <a:lstStyle/>
          <a:p>
            <a:pPr marL="0" indent="0" algn="ctr">
              <a:buNone/>
            </a:pPr>
            <a:r>
              <a:rPr lang="en-US" sz="6400" b="1" dirty="0">
                <a:solidFill>
                  <a:srgbClr val="00E5A0"/>
                </a:solidFill>
                <a:latin typeface="IBM Plex Sans Arabic" pitchFamily="34" charset="0"/>
                <a:ea typeface="IBM Plex Sans Arabic" pitchFamily="34" charset="-122"/>
                <a:cs typeface="IBM Plex Sans Arabic" pitchFamily="34" charset="-120"/>
              </a:rPr>
              <a:t>03</a:t>
            </a:r>
            <a:endParaRPr lang="en-US" sz="6400" dirty="0"/>
          </a:p>
        </p:txBody>
      </p:sp>
      <p:sp>
        <p:nvSpPr>
          <p:cNvPr id="16" name="Text 14"/>
          <p:cNvSpPr/>
          <p:nvPr/>
        </p:nvSpPr>
        <p:spPr>
          <a:xfrm>
            <a:off x="792328" y="3840480"/>
            <a:ext cx="3108960" cy="502920"/>
          </a:xfrm>
          <a:prstGeom prst="rect">
            <a:avLst/>
          </a:prstGeom>
          <a:noFill/>
          <a:ln/>
        </p:spPr>
        <p:txBody>
          <a:bodyPr wrap="square" lIns="0" tIns="0" rIns="0" bIns="0" rtlCol="0" anchor="ctr"/>
          <a:lstStyle/>
          <a:p>
            <a:pPr algn="ctr" rtl="1"/>
            <a:r>
              <a:rPr lang="ar-SA" sz="2000" b="1" dirty="0">
                <a:solidFill>
                  <a:schemeClr val="bg1">
                    <a:lumMod val="85000"/>
                  </a:schemeClr>
                </a:solidFill>
              </a:rPr>
              <a:t>جاهزية أفضل لسوق العمل</a:t>
            </a:r>
            <a:endParaRPr lang="en-US" b="1" dirty="0">
              <a:solidFill>
                <a:schemeClr val="bg1">
                  <a:lumMod val="85000"/>
                </a:schemeClr>
              </a:solidFill>
            </a:endParaRPr>
          </a:p>
        </p:txBody>
      </p:sp>
      <p:sp>
        <p:nvSpPr>
          <p:cNvPr id="17" name="Shape 15"/>
          <p:cNvSpPr/>
          <p:nvPr/>
        </p:nvSpPr>
        <p:spPr>
          <a:xfrm>
            <a:off x="2072488" y="4434840"/>
            <a:ext cx="548640" cy="27432"/>
          </a:xfrm>
          <a:prstGeom prst="rect">
            <a:avLst/>
          </a:prstGeom>
          <a:solidFill>
            <a:srgbClr val="008C66"/>
          </a:solidFill>
          <a:ln w="12700">
            <a:solidFill>
              <a:srgbClr val="008C66"/>
            </a:solidFill>
            <a:prstDash val="solid"/>
          </a:ln>
        </p:spPr>
        <p:txBody>
          <a:bodyPr/>
          <a:lstStyle/>
          <a:p>
            <a:endParaRPr lang="en-SA"/>
          </a:p>
        </p:txBody>
      </p:sp>
      <p:sp>
        <p:nvSpPr>
          <p:cNvPr id="18" name="Text 16"/>
          <p:cNvSpPr/>
          <p:nvPr/>
        </p:nvSpPr>
        <p:spPr>
          <a:xfrm>
            <a:off x="883768" y="4572000"/>
            <a:ext cx="2926080" cy="685800"/>
          </a:xfrm>
          <a:prstGeom prst="rect">
            <a:avLst/>
          </a:prstGeom>
          <a:noFill/>
          <a:ln/>
        </p:spPr>
        <p:txBody>
          <a:bodyPr wrap="square" lIns="0" tIns="0" rIns="0" bIns="0" rtlCol="0" anchor="t"/>
          <a:lstStyle/>
          <a:p>
            <a:pPr algn="ctr"/>
            <a:r>
              <a:rPr lang="ar-SA" dirty="0">
                <a:solidFill>
                  <a:schemeClr val="bg1">
                    <a:lumMod val="85000"/>
                  </a:schemeClr>
                </a:solidFill>
              </a:rPr>
              <a:t>يركز النظام على المهارات العملية التي يمكن تطبيقها خارج قاعة الاختبار.</a:t>
            </a:r>
          </a:p>
          <a:p>
            <a:br>
              <a:rPr lang="ar-SA" sz="1400" dirty="0"/>
            </a:br>
            <a:endParaRPr lang="en-US" sz="1300" dirty="0"/>
          </a:p>
        </p:txBody>
      </p:sp>
      <p:sp>
        <p:nvSpPr>
          <p:cNvPr id="19" name="Shape 1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22" name="Image 2" descr="unpacked/ppt/media/image5.png"/>
          <p:cNvPicPr>
            <a:picLocks noChangeAspect="1"/>
          </p:cNvPicPr>
          <p:nvPr/>
        </p:nvPicPr>
        <p:blipFill>
          <a:blip r:embed="rId3"/>
          <a:stretch>
            <a:fillRect/>
          </a:stretch>
        </p:blipFill>
        <p:spPr>
          <a:xfrm>
            <a:off x="10728655" y="6392962"/>
            <a:ext cx="1210056" cy="329184"/>
          </a:xfrm>
          <a:prstGeom prst="rect">
            <a:avLst/>
          </a:prstGeom>
        </p:spPr>
      </p:pic>
      <p:pic>
        <p:nvPicPr>
          <p:cNvPr id="24" name="Image 1" descr="unpacked/ppt/media/image1.png">
            <a:extLst>
              <a:ext uri="{FF2B5EF4-FFF2-40B4-BE49-F238E27FC236}">
                <a16:creationId xmlns:a16="http://schemas.microsoft.com/office/drawing/2014/main" id="{72FDE7AE-0D91-8BB4-F21D-273255C32948}"/>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25" name="Image 3" descr="unpacked/ppt/media/image3.png">
            <a:extLst>
              <a:ext uri="{FF2B5EF4-FFF2-40B4-BE49-F238E27FC236}">
                <a16:creationId xmlns:a16="http://schemas.microsoft.com/office/drawing/2014/main" id="{CAE5C65C-0B6E-4E70-B474-4F2D43DE4381}"/>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26" name="Picture 25" descr="A logo of a letter&#10;&#10;AI-generated content may be incorrect.">
            <a:extLst>
              <a:ext uri="{FF2B5EF4-FFF2-40B4-BE49-F238E27FC236}">
                <a16:creationId xmlns:a16="http://schemas.microsoft.com/office/drawing/2014/main" id="{98388735-6897-28E3-3C42-7371B6628EBD}"/>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9" name="Shape 7"/>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2" name="Image 2" descr="unpacked/ppt/media/image5.png"/>
          <p:cNvPicPr>
            <a:picLocks noChangeAspect="1"/>
          </p:cNvPicPr>
          <p:nvPr/>
        </p:nvPicPr>
        <p:blipFill>
          <a:blip r:embed="rId3"/>
          <a:stretch>
            <a:fillRect/>
          </a:stretch>
        </p:blipFill>
        <p:spPr>
          <a:xfrm>
            <a:off x="10728655" y="6392962"/>
            <a:ext cx="1210056" cy="329184"/>
          </a:xfrm>
          <a:prstGeom prst="rect">
            <a:avLst/>
          </a:prstGeom>
        </p:spPr>
      </p:pic>
      <p:pic>
        <p:nvPicPr>
          <p:cNvPr id="14" name="Image 1" descr="unpacked/ppt/media/image1.png">
            <a:extLst>
              <a:ext uri="{FF2B5EF4-FFF2-40B4-BE49-F238E27FC236}">
                <a16:creationId xmlns:a16="http://schemas.microsoft.com/office/drawing/2014/main" id="{719C95F4-BFAE-4B5E-5EBA-DFC80C5D33D4}"/>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5" name="Image 3" descr="unpacked/ppt/media/image3.png">
            <a:extLst>
              <a:ext uri="{FF2B5EF4-FFF2-40B4-BE49-F238E27FC236}">
                <a16:creationId xmlns:a16="http://schemas.microsoft.com/office/drawing/2014/main" id="{7B971BE7-6560-FCC8-732B-80729D62F3AF}"/>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6" name="Picture 15" descr="A logo of a letter&#10;&#10;AI-generated content may be incorrect.">
            <a:extLst>
              <a:ext uri="{FF2B5EF4-FFF2-40B4-BE49-F238E27FC236}">
                <a16:creationId xmlns:a16="http://schemas.microsoft.com/office/drawing/2014/main" id="{B502A7FF-CC93-A9EF-BEE3-0943F5398076}"/>
              </a:ext>
            </a:extLst>
          </p:cNvPr>
          <p:cNvPicPr>
            <a:picLocks noChangeAspect="1"/>
          </p:cNvPicPr>
          <p:nvPr/>
        </p:nvPicPr>
        <p:blipFill>
          <a:blip r:embed="rId6"/>
          <a:stretch>
            <a:fillRect/>
          </a:stretch>
        </p:blipFill>
        <p:spPr>
          <a:xfrm>
            <a:off x="488110" y="357922"/>
            <a:ext cx="465038" cy="465038"/>
          </a:xfrm>
          <a:prstGeom prst="rect">
            <a:avLst/>
          </a:prstGeom>
        </p:spPr>
      </p:pic>
      <p:pic>
        <p:nvPicPr>
          <p:cNvPr id="10" name="صورة 9">
            <a:extLst>
              <a:ext uri="{FF2B5EF4-FFF2-40B4-BE49-F238E27FC236}">
                <a16:creationId xmlns:a16="http://schemas.microsoft.com/office/drawing/2014/main" id="{6563ABC5-42B3-901F-6197-0B151A1A25EB}"/>
              </a:ext>
            </a:extLst>
          </p:cNvPr>
          <p:cNvPicPr>
            <a:picLocks noChangeAspect="1"/>
          </p:cNvPicPr>
          <p:nvPr/>
        </p:nvPicPr>
        <p:blipFill>
          <a:blip r:embed="rId7"/>
          <a:stretch>
            <a:fillRect/>
          </a:stretch>
        </p:blipFill>
        <p:spPr>
          <a:xfrm>
            <a:off x="1837317" y="893500"/>
            <a:ext cx="8517059" cy="51427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4" name="Shape 2"/>
          <p:cNvSpPr/>
          <p:nvPr/>
        </p:nvSpPr>
        <p:spPr>
          <a:xfrm>
            <a:off x="6266028" y="2971800"/>
            <a:ext cx="2377440" cy="1005840"/>
          </a:xfrm>
          <a:prstGeom prst="roundRect">
            <a:avLst>
              <a:gd name="adj" fmla="val 9091"/>
            </a:avLst>
          </a:prstGeom>
          <a:solidFill>
            <a:srgbClr val="121A2A"/>
          </a:solidFill>
          <a:ln w="12700">
            <a:solidFill>
              <a:srgbClr val="1E2A3F"/>
            </a:solidFill>
            <a:prstDash val="solid"/>
          </a:ln>
        </p:spPr>
        <p:txBody>
          <a:bodyPr/>
          <a:lstStyle/>
          <a:p>
            <a:endParaRPr lang="en-SA"/>
          </a:p>
        </p:txBody>
      </p:sp>
      <p:sp>
        <p:nvSpPr>
          <p:cNvPr id="5" name="Text 3"/>
          <p:cNvSpPr/>
          <p:nvPr/>
        </p:nvSpPr>
        <p:spPr>
          <a:xfrm>
            <a:off x="6266028" y="3108960"/>
            <a:ext cx="2377440" cy="320040"/>
          </a:xfrm>
          <a:prstGeom prst="rect">
            <a:avLst/>
          </a:prstGeom>
          <a:noFill/>
          <a:ln/>
        </p:spPr>
        <p:txBody>
          <a:bodyPr wrap="square" lIns="0" tIns="0" rIns="0" bIns="0" rtlCol="0" anchor="ctr"/>
          <a:lstStyle/>
          <a:p>
            <a:pPr marL="0" indent="0" algn="ctr" rtl="1">
              <a:buNone/>
            </a:pPr>
            <a:r>
              <a:rPr lang="en-US" sz="1100" b="1" kern="0" spc="200" dirty="0">
                <a:solidFill>
                  <a:srgbClr val="00E5A0"/>
                </a:solidFill>
                <a:latin typeface="IBM Plex Sans Arabic" pitchFamily="34" charset="0"/>
                <a:ea typeface="IBM Plex Sans Arabic" pitchFamily="34" charset="-122"/>
                <a:cs typeface="IBM Plex Sans Arabic" pitchFamily="34" charset="-120"/>
              </a:rPr>
              <a:t>الفر</a:t>
            </a:r>
            <a:r>
              <a:rPr lang="ar-SA" sz="1100" b="1" kern="0" spc="200" dirty="0">
                <a:solidFill>
                  <a:srgbClr val="00E5A0"/>
                </a:solidFill>
                <a:latin typeface="IBM Plex Sans Arabic" pitchFamily="34" charset="0"/>
                <a:ea typeface="IBM Plex Sans Arabic" pitchFamily="34" charset="-122"/>
                <a:cs typeface="IBM Plex Sans Arabic" pitchFamily="34" charset="-120"/>
              </a:rPr>
              <a:t>ي</a:t>
            </a:r>
            <a:r>
              <a:rPr lang="en-US" sz="1100" b="1" kern="0" spc="200" dirty="0">
                <a:solidFill>
                  <a:srgbClr val="00E5A0"/>
                </a:solidFill>
                <a:latin typeface="IBM Plex Sans Arabic" pitchFamily="34" charset="0"/>
                <a:ea typeface="IBM Plex Sans Arabic" pitchFamily="34" charset="-122"/>
                <a:cs typeface="IBM Plex Sans Arabic" pitchFamily="34" charset="-120"/>
              </a:rPr>
              <a:t>ق</a:t>
            </a:r>
            <a:endParaRPr lang="en-US" sz="1100" dirty="0"/>
          </a:p>
        </p:txBody>
      </p:sp>
      <p:sp>
        <p:nvSpPr>
          <p:cNvPr id="6" name="Text 4"/>
          <p:cNvSpPr/>
          <p:nvPr/>
        </p:nvSpPr>
        <p:spPr>
          <a:xfrm>
            <a:off x="6266028" y="3429000"/>
            <a:ext cx="2377440" cy="457200"/>
          </a:xfrm>
          <a:prstGeom prst="rect">
            <a:avLst/>
          </a:prstGeom>
          <a:noFill/>
          <a:ln/>
        </p:spPr>
        <p:txBody>
          <a:bodyPr wrap="square" lIns="0" tIns="0" rIns="0" bIns="0" rtlCol="0" anchor="ctr"/>
          <a:lstStyle/>
          <a:p>
            <a:pPr marL="0" indent="0" algn="ctr" rtl="1">
              <a:buNone/>
            </a:pPr>
            <a:r>
              <a:rPr lang="en-US" sz="1600" b="1" dirty="0">
                <a:solidFill>
                  <a:srgbClr val="E6EDF7"/>
                </a:solidFill>
                <a:latin typeface="IBM Plex Sans Arabic" pitchFamily="34" charset="0"/>
                <a:ea typeface="IBM Plex Sans Arabic" pitchFamily="34" charset="-122"/>
              </a:rPr>
              <a:t>SSB</a:t>
            </a:r>
            <a:endParaRPr lang="en-US" sz="1600" dirty="0"/>
          </a:p>
        </p:txBody>
      </p:sp>
      <p:sp>
        <p:nvSpPr>
          <p:cNvPr id="7" name="Shape 5"/>
          <p:cNvSpPr/>
          <p:nvPr/>
        </p:nvSpPr>
        <p:spPr>
          <a:xfrm>
            <a:off x="3522828" y="2971800"/>
            <a:ext cx="2377440" cy="1005840"/>
          </a:xfrm>
          <a:prstGeom prst="roundRect">
            <a:avLst>
              <a:gd name="adj" fmla="val 9091"/>
            </a:avLst>
          </a:prstGeom>
          <a:solidFill>
            <a:srgbClr val="121A2A"/>
          </a:solidFill>
          <a:ln w="12700">
            <a:solidFill>
              <a:srgbClr val="1E2A3F"/>
            </a:solidFill>
            <a:prstDash val="solid"/>
          </a:ln>
        </p:spPr>
        <p:txBody>
          <a:bodyPr/>
          <a:lstStyle/>
          <a:p>
            <a:endParaRPr lang="en-SA"/>
          </a:p>
        </p:txBody>
      </p:sp>
      <p:sp>
        <p:nvSpPr>
          <p:cNvPr id="8" name="Text 6"/>
          <p:cNvSpPr/>
          <p:nvPr/>
        </p:nvSpPr>
        <p:spPr>
          <a:xfrm>
            <a:off x="3522828" y="3108960"/>
            <a:ext cx="2377440" cy="320040"/>
          </a:xfrm>
          <a:prstGeom prst="rect">
            <a:avLst/>
          </a:prstGeom>
          <a:noFill/>
          <a:ln/>
        </p:spPr>
        <p:txBody>
          <a:bodyPr wrap="square" lIns="0" tIns="0" rIns="0" bIns="0" rtlCol="0" anchor="ctr"/>
          <a:lstStyle/>
          <a:p>
            <a:pPr marL="0" indent="0" algn="ctr" rtl="1">
              <a:buNone/>
            </a:pPr>
            <a:r>
              <a:rPr lang="en-US" sz="1100" b="1" kern="0" spc="200" dirty="0">
                <a:solidFill>
                  <a:srgbClr val="00E5A0"/>
                </a:solidFill>
                <a:latin typeface="IBM Plex Sans Arabic" pitchFamily="34" charset="0"/>
                <a:ea typeface="IBM Plex Sans Arabic" pitchFamily="34" charset="-122"/>
                <a:cs typeface="IBM Plex Sans Arabic" pitchFamily="34" charset="-120"/>
              </a:rPr>
              <a:t>الحدث</a:t>
            </a:r>
            <a:endParaRPr lang="en-US" sz="1100" dirty="0"/>
          </a:p>
        </p:txBody>
      </p:sp>
      <p:sp>
        <p:nvSpPr>
          <p:cNvPr id="9" name="Text 7"/>
          <p:cNvSpPr/>
          <p:nvPr/>
        </p:nvSpPr>
        <p:spPr>
          <a:xfrm>
            <a:off x="3522828" y="3429000"/>
            <a:ext cx="2377440" cy="457200"/>
          </a:xfrm>
          <a:prstGeom prst="rect">
            <a:avLst/>
          </a:prstGeom>
          <a:noFill/>
          <a:ln/>
        </p:spPr>
        <p:txBody>
          <a:bodyPr wrap="square" lIns="0" tIns="0" rIns="0" bIns="0" rtlCol="0" anchor="ctr"/>
          <a:lstStyle/>
          <a:p>
            <a:pPr marL="0" indent="0" algn="ctr">
              <a:buNone/>
            </a:pPr>
            <a:r>
              <a:rPr lang="en-US" sz="1600" b="1" dirty="0">
                <a:solidFill>
                  <a:srgbClr val="E6EDF7"/>
                </a:solidFill>
                <a:latin typeface="IBM Plex Sans Arabic" pitchFamily="34" charset="0"/>
                <a:ea typeface="IBM Plex Sans Arabic" pitchFamily="34" charset="-122"/>
                <a:cs typeface="IBM Plex Sans Arabic" pitchFamily="34" charset="-120"/>
              </a:rPr>
              <a:t>Agenticthon 2026</a:t>
            </a:r>
            <a:endParaRPr lang="en-US" sz="1600" dirty="0"/>
          </a:p>
        </p:txBody>
      </p:sp>
      <p:sp>
        <p:nvSpPr>
          <p:cNvPr id="10" name="Shape 8"/>
          <p:cNvSpPr/>
          <p:nvPr/>
        </p:nvSpPr>
        <p:spPr>
          <a:xfrm>
            <a:off x="457200" y="6263640"/>
            <a:ext cx="11277295" cy="0"/>
          </a:xfrm>
          <a:prstGeom prst="line">
            <a:avLst/>
          </a:prstGeom>
          <a:noFill/>
          <a:ln w="9525">
            <a:solidFill>
              <a:srgbClr val="1E2A3F"/>
            </a:solidFill>
            <a:prstDash val="solid"/>
          </a:ln>
        </p:spPr>
        <p:txBody>
          <a:bodyPr/>
          <a:lstStyle/>
          <a:p>
            <a:endParaRPr lang="en-SA"/>
          </a:p>
        </p:txBody>
      </p:sp>
      <p:pic>
        <p:nvPicPr>
          <p:cNvPr id="13" name="Image 2" descr="unpacked/ppt/media/image5.png"/>
          <p:cNvPicPr>
            <a:picLocks noChangeAspect="1"/>
          </p:cNvPicPr>
          <p:nvPr/>
        </p:nvPicPr>
        <p:blipFill>
          <a:blip r:embed="rId3"/>
          <a:stretch>
            <a:fillRect/>
          </a:stretch>
        </p:blipFill>
        <p:spPr>
          <a:xfrm>
            <a:off x="10787694" y="6392962"/>
            <a:ext cx="1210056" cy="329184"/>
          </a:xfrm>
          <a:prstGeom prst="rect">
            <a:avLst/>
          </a:prstGeom>
        </p:spPr>
      </p:pic>
      <p:pic>
        <p:nvPicPr>
          <p:cNvPr id="15" name="Image 1" descr="unpacked/ppt/media/image1.png">
            <a:extLst>
              <a:ext uri="{FF2B5EF4-FFF2-40B4-BE49-F238E27FC236}">
                <a16:creationId xmlns:a16="http://schemas.microsoft.com/office/drawing/2014/main" id="{B6937794-05CC-7CE3-EC4D-0539AC137AF9}"/>
              </a:ext>
            </a:extLst>
          </p:cNvPr>
          <p:cNvPicPr>
            <a:picLocks noChangeAspect="1"/>
          </p:cNvPicPr>
          <p:nvPr/>
        </p:nvPicPr>
        <p:blipFill>
          <a:blip r:embed="rId4"/>
          <a:stretch>
            <a:fillRect/>
          </a:stretch>
        </p:blipFill>
        <p:spPr>
          <a:xfrm>
            <a:off x="1366307" y="300446"/>
            <a:ext cx="1639948" cy="593054"/>
          </a:xfrm>
          <a:prstGeom prst="rect">
            <a:avLst/>
          </a:prstGeom>
        </p:spPr>
      </p:pic>
      <p:pic>
        <p:nvPicPr>
          <p:cNvPr id="16" name="Image 3" descr="unpacked/ppt/media/image3.png">
            <a:extLst>
              <a:ext uri="{FF2B5EF4-FFF2-40B4-BE49-F238E27FC236}">
                <a16:creationId xmlns:a16="http://schemas.microsoft.com/office/drawing/2014/main" id="{946652DE-32ED-2AC5-3E97-1DDFF117C2EA}"/>
              </a:ext>
            </a:extLst>
          </p:cNvPr>
          <p:cNvPicPr>
            <a:picLocks noChangeAspect="1"/>
          </p:cNvPicPr>
          <p:nvPr/>
        </p:nvPicPr>
        <p:blipFill>
          <a:blip r:embed="rId5"/>
          <a:stretch>
            <a:fillRect/>
          </a:stretch>
        </p:blipFill>
        <p:spPr>
          <a:xfrm>
            <a:off x="10365661" y="300446"/>
            <a:ext cx="1512525" cy="694944"/>
          </a:xfrm>
          <a:prstGeom prst="rect">
            <a:avLst/>
          </a:prstGeom>
        </p:spPr>
      </p:pic>
      <p:pic>
        <p:nvPicPr>
          <p:cNvPr id="17" name="Picture 16" descr="A logo of a letter&#10;&#10;AI-generated content may be incorrect.">
            <a:extLst>
              <a:ext uri="{FF2B5EF4-FFF2-40B4-BE49-F238E27FC236}">
                <a16:creationId xmlns:a16="http://schemas.microsoft.com/office/drawing/2014/main" id="{13404CF1-F149-703D-EA73-D808DBBF4AF0}"/>
              </a:ext>
            </a:extLst>
          </p:cNvPr>
          <p:cNvPicPr>
            <a:picLocks noChangeAspect="1"/>
          </p:cNvPicPr>
          <p:nvPr/>
        </p:nvPicPr>
        <p:blipFill>
          <a:blip r:embed="rId6"/>
          <a:stretch>
            <a:fillRect/>
          </a:stretch>
        </p:blipFill>
        <p:spPr>
          <a:xfrm>
            <a:off x="488110" y="357922"/>
            <a:ext cx="465038" cy="4650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538</Words>
  <Application>Microsoft Office PowerPoint</Application>
  <PresentationFormat>شاشة عريضة</PresentationFormat>
  <Paragraphs>97</Paragraphs>
  <Slides>12</Slides>
  <Notes>12</Notes>
  <HiddenSlides>0</HiddenSlides>
  <MMClips>0</MMClips>
  <ScaleCrop>false</ScaleCrop>
  <HeadingPairs>
    <vt:vector size="4" baseType="variant">
      <vt:variant>
        <vt:lpstr>نسق</vt:lpstr>
      </vt:variant>
      <vt:variant>
        <vt:i4>1</vt:i4>
      </vt:variant>
      <vt:variant>
        <vt:lpstr>عناوين الشرائح</vt:lpstr>
      </vt:variant>
      <vt:variant>
        <vt:i4>12</vt:i4>
      </vt:variant>
    </vt:vector>
  </HeadingPairs>
  <TitlesOfParts>
    <vt:vector size="13"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Agenticthon Project Presentation</dc:title>
  <dc:subject>PptxGenJS Presentation</dc:subject>
  <dc:creator>Agenticthon</dc:creator>
  <cp:lastModifiedBy>ساره راشد صالح العبلان</cp:lastModifiedBy>
  <cp:revision>5</cp:revision>
  <dcterms:created xsi:type="dcterms:W3CDTF">2026-05-05T20:50:46Z</dcterms:created>
  <dcterms:modified xsi:type="dcterms:W3CDTF">2026-05-09T00:48:02Z</dcterms:modified>
</cp:coreProperties>
</file>